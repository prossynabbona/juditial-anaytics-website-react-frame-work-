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305" r:id="rId3"/>
    <p:sldId id="258" r:id="rId4"/>
    <p:sldId id="260" r:id="rId5"/>
    <p:sldId id="356" r:id="rId6"/>
    <p:sldId id="366" r:id="rId7"/>
    <p:sldId id="357" r:id="rId8"/>
    <p:sldId id="267" r:id="rId9"/>
    <p:sldId id="300" r:id="rId10"/>
    <p:sldId id="360" r:id="rId11"/>
    <p:sldId id="358" r:id="rId12"/>
    <p:sldId id="361" r:id="rId13"/>
    <p:sldId id="347" r:id="rId14"/>
    <p:sldId id="308" r:id="rId15"/>
    <p:sldId id="274" r:id="rId16"/>
    <p:sldId id="362" r:id="rId17"/>
    <p:sldId id="275" r:id="rId18"/>
    <p:sldId id="344" r:id="rId19"/>
    <p:sldId id="367" r:id="rId20"/>
    <p:sldId id="359" r:id="rId21"/>
    <p:sldId id="363" r:id="rId22"/>
    <p:sldId id="314" r:id="rId23"/>
    <p:sldId id="316" r:id="rId24"/>
    <p:sldId id="318" r:id="rId25"/>
    <p:sldId id="320" r:id="rId26"/>
    <p:sldId id="322" r:id="rId27"/>
    <p:sldId id="324" r:id="rId28"/>
    <p:sldId id="326" r:id="rId29"/>
    <p:sldId id="328" r:id="rId30"/>
    <p:sldId id="348" r:id="rId31"/>
    <p:sldId id="364" r:id="rId32"/>
    <p:sldId id="353" r:id="rId33"/>
    <p:sldId id="354" r:id="rId34"/>
    <p:sldId id="369" r:id="rId35"/>
    <p:sldId id="370" r:id="rId36"/>
    <p:sldId id="355" r:id="rId37"/>
    <p:sldId id="352" r:id="rId38"/>
    <p:sldId id="368" r:id="rId39"/>
  </p:sldIdLst>
  <p:sldSz cx="9144000" cy="6858000" type="screen4x3"/>
  <p:notesSz cx="9929813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E66C98-4A34-4E1A-981C-47F894249042}">
          <p14:sldIdLst>
            <p14:sldId id="256"/>
            <p14:sldId id="305"/>
            <p14:sldId id="258"/>
            <p14:sldId id="260"/>
            <p14:sldId id="356"/>
            <p14:sldId id="366"/>
            <p14:sldId id="357"/>
            <p14:sldId id="267"/>
            <p14:sldId id="300"/>
            <p14:sldId id="360"/>
            <p14:sldId id="358"/>
            <p14:sldId id="361"/>
            <p14:sldId id="347"/>
            <p14:sldId id="308"/>
            <p14:sldId id="274"/>
            <p14:sldId id="362"/>
            <p14:sldId id="275"/>
            <p14:sldId id="344"/>
            <p14:sldId id="367"/>
            <p14:sldId id="359"/>
            <p14:sldId id="363"/>
            <p14:sldId id="314"/>
            <p14:sldId id="316"/>
            <p14:sldId id="318"/>
            <p14:sldId id="320"/>
            <p14:sldId id="322"/>
            <p14:sldId id="324"/>
            <p14:sldId id="326"/>
            <p14:sldId id="328"/>
            <p14:sldId id="348"/>
            <p14:sldId id="364"/>
            <p14:sldId id="353"/>
            <p14:sldId id="354"/>
            <p14:sldId id="369"/>
            <p14:sldId id="370"/>
            <p14:sldId id="355"/>
            <p14:sldId id="352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760" autoAdjust="0"/>
  </p:normalViewPr>
  <p:slideViewPr>
    <p:cSldViewPr showGuides="1">
      <p:cViewPr varScale="1">
        <p:scale>
          <a:sx n="47" d="100"/>
          <a:sy n="47" d="100"/>
        </p:scale>
        <p:origin x="204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75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2"/>
          <c:order val="2"/>
          <c:tx>
            <c:strRef>
              <c:f>Sheet1!$D$1</c:f>
              <c:strCache>
                <c:ptCount val="1"/>
                <c:pt idx="0">
                  <c:v>PENDING CASES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6BE8-4644-AA99-81CE3BB141A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6BE8-4644-AA99-81CE3BB141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6BE8-4644-AA99-81CE3BB141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6BE8-4644-AA99-81CE3BB141A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6BE8-4644-AA99-81CE3BB141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CRIMINAL</c:v>
                </c:pt>
                <c:pt idx="1">
                  <c:v>CIVIL</c:v>
                </c:pt>
                <c:pt idx="2">
                  <c:v>FAMILY</c:v>
                </c:pt>
                <c:pt idx="3">
                  <c:v>LAND</c:v>
                </c:pt>
                <c:pt idx="4">
                  <c:v>EXECUTION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69</c:v>
                </c:pt>
                <c:pt idx="1">
                  <c:v>118</c:v>
                </c:pt>
                <c:pt idx="2">
                  <c:v>30</c:v>
                </c:pt>
                <c:pt idx="3">
                  <c:v>127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BE8-4644-AA99-81CE3BB141A0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REGISTERED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>
                    <c:ext xmlns:c16="http://schemas.microsoft.com/office/drawing/2014/chart" uri="{C3380CC4-5D6E-409C-BE32-E72D297353CC}">
                      <c16:uniqueId val="{0000000C-6BE8-4644-AA99-81CE3BB141A0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>
                    <c:ext xmlns:c16="http://schemas.microsoft.com/office/drawing/2014/chart" uri="{C3380CC4-5D6E-409C-BE32-E72D297353CC}">
                      <c16:uniqueId val="{0000000E-6BE8-4644-AA99-81CE3BB141A0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>
                    <c:ext xmlns:c16="http://schemas.microsoft.com/office/drawing/2014/chart" uri="{C3380CC4-5D6E-409C-BE32-E72D297353CC}">
                      <c16:uniqueId val="{00000010-6BE8-4644-AA99-81CE3BB141A0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>
                    <c:ext xmlns:c16="http://schemas.microsoft.com/office/drawing/2014/chart" uri="{C3380CC4-5D6E-409C-BE32-E72D297353CC}">
                      <c16:uniqueId val="{00000012-6BE8-4644-AA99-81CE3BB141A0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>
                    <c:ext xmlns:c16="http://schemas.microsoft.com/office/drawing/2014/chart" uri="{C3380CC4-5D6E-409C-BE32-E72D297353CC}">
                      <c16:uniqueId val="{00000014-6BE8-4644-AA99-81CE3BB141A0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195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1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dk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CRIMINAL</c:v>
                      </c:pt>
                      <c:pt idx="1">
                        <c:v>CIVIL</c:v>
                      </c:pt>
                      <c:pt idx="2">
                        <c:v>FAMILY</c:v>
                      </c:pt>
                      <c:pt idx="3">
                        <c:v>LAND</c:v>
                      </c:pt>
                      <c:pt idx="4">
                        <c:v>EXECUTION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43</c:v>
                      </c:pt>
                      <c:pt idx="1">
                        <c:v>32</c:v>
                      </c:pt>
                      <c:pt idx="2">
                        <c:v>6</c:v>
                      </c:pt>
                      <c:pt idx="3">
                        <c:v>31</c:v>
                      </c:pt>
                      <c:pt idx="4">
                        <c:v>10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5-6BE8-4644-AA99-81CE3BB141A0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COMPLETED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7-6BE8-4644-AA99-81CE3BB141A0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9-6BE8-4644-AA99-81CE3BB141A0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B-6BE8-4644-AA99-81CE3BB141A0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D-6BE8-4644-AA99-81CE3BB141A0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F-6BE8-4644-AA99-81CE3BB141A0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195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1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dk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CRIMINAL</c:v>
                      </c:pt>
                      <c:pt idx="1">
                        <c:v>CIVIL</c:v>
                      </c:pt>
                      <c:pt idx="2">
                        <c:v>FAMILY</c:v>
                      </c:pt>
                      <c:pt idx="3">
                        <c:v>LAND</c:v>
                      </c:pt>
                      <c:pt idx="4">
                        <c:v>EXECUTION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87</c:v>
                      </c:pt>
                      <c:pt idx="1">
                        <c:v>42</c:v>
                      </c:pt>
                      <c:pt idx="2">
                        <c:v>4</c:v>
                      </c:pt>
                      <c:pt idx="3">
                        <c:v>13</c:v>
                      </c:pt>
                      <c:pt idx="4">
                        <c:v>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6BE8-4644-AA99-81CE3BB141A0}"/>
                  </c:ext>
                </c:extLst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BACKLOG CASES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2-6BE8-4644-AA99-81CE3BB141A0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4-6BE8-4644-AA99-81CE3BB141A0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6-6BE8-4644-AA99-81CE3BB141A0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8-6BE8-4644-AA99-81CE3BB141A0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889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matte"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A-6BE8-4644-AA99-81CE3BB141A0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195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1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dk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CRIMINAL</c:v>
                      </c:pt>
                      <c:pt idx="1">
                        <c:v>CIVIL</c:v>
                      </c:pt>
                      <c:pt idx="2">
                        <c:v>FAMILY</c:v>
                      </c:pt>
                      <c:pt idx="3">
                        <c:v>LAND</c:v>
                      </c:pt>
                      <c:pt idx="4">
                        <c:v>EXECUTION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</c:v>
                      </c:pt>
                      <c:pt idx="1">
                        <c:v>25</c:v>
                      </c:pt>
                      <c:pt idx="2">
                        <c:v>1</c:v>
                      </c:pt>
                      <c:pt idx="3">
                        <c:v>21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6BE8-4644-AA99-81CE3BB141A0}"/>
                  </c:ext>
                </c:extLst>
              </c15:ser>
            </c15:filteredPieSeries>
          </c:ext>
        </c:extLst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643618766404201"/>
          <c:y val="0.89461289882117301"/>
          <c:w val="0.64712762467191598"/>
          <c:h val="8.8046060716398894E-2"/>
        </c:manualLayout>
      </c:layout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aa9743-b73d-4b93-9cab-0771d29e01f4}"/>
      </c:ext>
    </c:extLst>
  </c:chart>
  <c:spPr>
    <a:solidFill>
      <a:schemeClr val="accent6">
        <a:lumMod val="60000"/>
        <a:lumOff val="4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3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BREAK DOWN PER J/O ON CHART</a:t>
            </a:r>
            <a:endParaRPr lang="en-GB" dirty="0"/>
          </a:p>
        </c:rich>
      </c:tx>
      <c:layout>
        <c:manualLayout>
          <c:xMode val="edge"/>
          <c:yMode val="edge"/>
          <c:x val="7.4979166666666694E-2"/>
          <c:y val="2.18500516532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B/F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HON JUSTICE LAWRENCE TWEYANZE</c:v>
                </c:pt>
                <c:pt idx="1">
                  <c:v>HON JUSTICE DAVID S.L.MAKUMBI</c:v>
                </c:pt>
                <c:pt idx="2">
                  <c:v>DEPUTY REGISTRAR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244</c:v>
                </c:pt>
                <c:pt idx="1">
                  <c:v>66</c:v>
                </c:pt>
                <c:pt idx="2">
                  <c:v>75</c:v>
                </c:pt>
                <c:pt idx="3">
                  <c:v>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FC-4587-9EB9-1D86AAF563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HON JUSTICE LAWRENCE TWEYANZE</c:v>
                </c:pt>
                <c:pt idx="1">
                  <c:v>HON JUSTICE DAVID S.L.MAKUMBI</c:v>
                </c:pt>
                <c:pt idx="2">
                  <c:v>DEPUTY REGISTRAR</c:v>
                </c:pt>
                <c:pt idx="3">
                  <c:v>TOTAL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2">
                  <c:v>37</c:v>
                </c:pt>
                <c:pt idx="3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FC-4587-9EB9-1D86AAF563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COMPLETED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HON JUSTICE LAWRENCE TWEYANZE</c:v>
                </c:pt>
                <c:pt idx="1">
                  <c:v>HON JUSTICE DAVID S.L.MAKUMBI</c:v>
                </c:pt>
                <c:pt idx="2">
                  <c:v>DEPUTY REGISTRAR</c:v>
                </c:pt>
                <c:pt idx="3">
                  <c:v>TOTAL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</c:v>
                </c:pt>
                <c:pt idx="1">
                  <c:v>32</c:v>
                </c:pt>
                <c:pt idx="2">
                  <c:v>48</c:v>
                </c:pt>
                <c:pt idx="3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FC-4587-9EB9-1D86AAF563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0022927"/>
        <c:axId val="180027087"/>
      </c:barChart>
      <c:catAx>
        <c:axId val="180022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027087"/>
        <c:crosses val="autoZero"/>
        <c:auto val="1"/>
        <c:lblAlgn val="ctr"/>
        <c:lblOffset val="100"/>
        <c:noMultiLvlLbl val="0"/>
      </c:catAx>
      <c:valAx>
        <c:axId val="18002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02292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cf5d310-5a3d-4060-a647-47fcea0bc0a9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3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 dirty="0"/>
              <a:t>TOTAL DISPOSED </a:t>
            </a:r>
            <a:r>
              <a:rPr lang="en-GB" dirty="0" smtClean="0"/>
              <a:t>OF </a:t>
            </a:r>
            <a:r>
              <a:rPr lang="en-GB" dirty="0"/>
              <a:t>BY EACH JUDICIAL OFFICER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DISPOSED OFF BY EACH JUDICIAL OFFICER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Hon. Justice Lawrence Tweyanze
</c:v>
                </c:pt>
                <c:pt idx="1">
                  <c:v>Hon Justice David S.L Makumbi</c:v>
                </c:pt>
                <c:pt idx="2">
                  <c:v>H/W Nkwasibwe Ivan
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32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6-437B-B38C-17A672A10E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40825151"/>
        <c:axId val="240813087"/>
      </c:barChart>
      <c:catAx>
        <c:axId val="24082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813087"/>
        <c:crosses val="autoZero"/>
        <c:auto val="1"/>
        <c:lblAlgn val="ctr"/>
        <c:lblOffset val="100"/>
        <c:noMultiLvlLbl val="0"/>
      </c:catAx>
      <c:valAx>
        <c:axId val="24081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82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fd0ee2-0379-498f-9213-8668c8a1cf41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BACKLOG CASE STATUS ON PIE CHART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1-41C7-484D-B805-92A447B12B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3-41C7-484D-B805-92A447B12B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5-41C7-484D-B805-92A447B12B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7-41C7-484D-B805-92A447B12B46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CRIMINAL</c:v>
                </c:pt>
                <c:pt idx="1">
                  <c:v>CIVIL</c:v>
                </c:pt>
                <c:pt idx="2">
                  <c:v>LAND</c:v>
                </c:pt>
                <c:pt idx="3">
                  <c:v>FAMILY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27</c:v>
                </c:pt>
                <c:pt idx="2">
                  <c:v>23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C7-484D-B805-92A447B12B4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b0b1566-55cf-4a76-ba44-5d3a6e12426b}"/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3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BACKLOG COMPARISON BETWEEN THE 4TH  AND 3RD  QUARTER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4TH QUARTER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CIVIL</c:v>
                </c:pt>
                <c:pt idx="1">
                  <c:v>LAND</c:v>
                </c:pt>
                <c:pt idx="2">
                  <c:v>FAMILY</c:v>
                </c:pt>
                <c:pt idx="3">
                  <c:v>CRIMINAL</c:v>
                </c:pt>
                <c:pt idx="4">
                  <c:v>EXECUTION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23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AA-4043-8D79-DF2F2813B9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3RD QUARTER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CIVIL</c:v>
                </c:pt>
                <c:pt idx="1">
                  <c:v>LAND</c:v>
                </c:pt>
                <c:pt idx="2">
                  <c:v>FAMILY</c:v>
                </c:pt>
                <c:pt idx="3">
                  <c:v>CRIMINAL</c:v>
                </c:pt>
                <c:pt idx="4">
                  <c:v>EXECUTION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21</c:v>
                </c:pt>
                <c:pt idx="2">
                  <c:v>1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AA-4043-8D79-DF2F2813B9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31047423"/>
        <c:axId val="231045343"/>
      </c:barChart>
      <c:catAx>
        <c:axId val="231047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1045343"/>
        <c:crosses val="autoZero"/>
        <c:auto val="1"/>
        <c:lblAlgn val="ctr"/>
        <c:lblOffset val="100"/>
        <c:noMultiLvlLbl val="0"/>
      </c:catAx>
      <c:valAx>
        <c:axId val="23104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104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8b295c8-2931-441c-a047-62e3fb1f0327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919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5171" y="0"/>
            <a:ext cx="4302919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A1F2B-B201-432A-B6CD-64079651BC76}" type="datetimeFigureOut">
              <a:rPr lang="en-US" smtClean="0"/>
              <a:t>8/4/2025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9113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982" y="3271382"/>
            <a:ext cx="794385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2919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5171" y="6456219"/>
            <a:ext cx="4302919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D742B-3ABB-4D68-9468-8BAC745EBD7A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pc="-5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D742B-3ABB-4D68-9468-8BAC745EBD7A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5C7B1-ADCB-4EA5-8007-521A4D89C43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5F487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6C3E0-9C89-45E7-A947-9AB9EB20BFC5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5F487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C89FF-B7EB-488E-80A4-5EF90D52A261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5F487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79D1-48A9-4E8E-94F1-EC0E7B8F0DD4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D9ACA-2666-43F5-9FC8-FC2BC3591C4C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7151"/>
            <a:ext cx="9144000" cy="14508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5F487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1289050"/>
            <a:ext cx="7753984" cy="4164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59D7B-B99B-4296-BF3D-CD5CD53BB4FB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61681" y="6466204"/>
            <a:ext cx="591820" cy="402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293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6600" y="381000"/>
            <a:ext cx="2362200" cy="2057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2227386"/>
            <a:ext cx="6629400" cy="438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17780" algn="ctr">
              <a:lnSpc>
                <a:spcPct val="100000"/>
              </a:lnSpc>
              <a:spcBef>
                <a:spcPts val="100"/>
              </a:spcBef>
              <a:tabLst>
                <a:tab pos="1812925" algn="l"/>
              </a:tabLst>
            </a:pPr>
            <a:r>
              <a:rPr lang="en-US" sz="28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THE HIGH COURT OF UGANDA  AT KASESE</a:t>
            </a:r>
            <a:br>
              <a:rPr lang="en-US" sz="28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</a:br>
            <a:r>
              <a:rPr lang="en-US" sz="2400" b="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/>
            </a:r>
            <a:br>
              <a:rPr lang="en-US" sz="2400" b="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</a:br>
            <a:r>
              <a:rPr lang="en-US" sz="24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QUARTERLY</a:t>
            </a:r>
            <a:r>
              <a:rPr sz="2400" spc="-7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sz="24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PERFORMANCE</a:t>
            </a:r>
            <a:r>
              <a:rPr lang="en-US" sz="2400" spc="15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sz="24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REPORT</a:t>
            </a:r>
            <a:r>
              <a:rPr lang="en-US" sz="24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/>
            </a:r>
            <a:br>
              <a:rPr lang="en-US" sz="2400" spc="-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</a:br>
            <a:r>
              <a:rPr lang="en-US" sz="2400" b="0" spc="-5" dirty="0">
                <a:solidFill>
                  <a:srgbClr val="000000"/>
                </a:solidFill>
                <a:latin typeface="Bookman Old Style" panose="02050604050505020204" pitchFamily="18" charset="0"/>
              </a:rPr>
              <a:t/>
            </a:r>
            <a:br>
              <a:rPr lang="en-US" sz="2400" b="0" spc="-5" dirty="0">
                <a:solidFill>
                  <a:srgbClr val="000000"/>
                </a:solidFill>
                <a:latin typeface="Bookman Old Style" panose="02050604050505020204" pitchFamily="18" charset="0"/>
              </a:rPr>
            </a:br>
            <a:r>
              <a:rPr lang="en-US" sz="1800" b="0" spc="-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FOURTH QUARTER</a:t>
            </a:r>
            <a:r>
              <a:rPr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1800" b="0" spc="-5" dirty="0">
                <a:solidFill>
                  <a:srgbClr val="001F5F"/>
                </a:solidFill>
                <a:latin typeface="Bookman Old Style" panose="02050604050505020204" pitchFamily="18" charset="0"/>
              </a:rPr>
              <a:t>FY</a:t>
            </a:r>
            <a:r>
              <a:rPr sz="1800" b="0" spc="-35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2024/2025</a:t>
            </a:r>
            <a:br>
              <a:rPr lang="en-US"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1</a:t>
            </a:r>
            <a:r>
              <a:rPr lang="en-US" sz="1800" b="0" spc="-15" baseline="3000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ST</a:t>
            </a:r>
            <a:r>
              <a:rPr lang="en-US"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APRIL –  30</a:t>
            </a:r>
            <a:r>
              <a:rPr lang="en-US" sz="1800" b="0" spc="-15" baseline="3000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TH</a:t>
            </a:r>
            <a:r>
              <a:rPr lang="en-US" sz="18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JUNE 2025</a:t>
            </a:r>
            <a: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/>
            </a:r>
            <a:b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/>
            </a:r>
            <a:b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24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HON. JUSTICE LAWRENCE TWEYANZE</a:t>
            </a:r>
            <a:br>
              <a:rPr lang="en-US" sz="24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/>
            </a:r>
            <a:b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RESIDENT JUDGE</a:t>
            </a:r>
            <a:b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</a:br>
            <a:r>
              <a:rPr lang="en-US" sz="2400" b="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endParaRPr sz="2400" dirty="0">
              <a:latin typeface="Bookman Old Style" panose="020506040505050202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2702" y="634177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55" y="457200"/>
            <a:ext cx="8024977" cy="430887"/>
          </a:xfrm>
        </p:spPr>
        <p:txBody>
          <a:bodyPr/>
          <a:lstStyle/>
          <a:p>
            <a:r>
              <a:rPr lang="en-US" sz="2800" dirty="0" smtClean="0">
                <a:latin typeface="Bookman Old Style" panose="02050604050505020204" pitchFamily="18" charset="0"/>
              </a:rPr>
              <a:t>INTRODUCTION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295400"/>
            <a:ext cx="8763000" cy="4801314"/>
          </a:xfrm>
        </p:spPr>
        <p:txBody>
          <a:bodyPr/>
          <a:lstStyle/>
          <a:p>
            <a:pPr algn="just"/>
            <a:r>
              <a:rPr lang="en-US" sz="2400" dirty="0" smtClean="0">
                <a:latin typeface="Book Antiqua" panose="02040602050305030304" pitchFamily="18" charset="0"/>
              </a:rPr>
              <a:t>Kasese High Court Circuit handles Civil and Criminal cases.</a:t>
            </a:r>
          </a:p>
          <a:p>
            <a:pPr algn="just"/>
            <a:r>
              <a:rPr lang="en-US" sz="2400" dirty="0" smtClean="0">
                <a:latin typeface="Book Antiqua" panose="02040602050305030304" pitchFamily="18" charset="0"/>
              </a:rPr>
              <a:t>It has one Resident Judge and one Deputy Registrar assisted by eight other members of staff.</a:t>
            </a:r>
          </a:p>
          <a:p>
            <a:pPr algn="just"/>
            <a:endParaRPr lang="en-US" sz="2400" dirty="0" smtClean="0">
              <a:latin typeface="Book Antiqua" panose="02040602050305030304" pitchFamily="18" charset="0"/>
            </a:endParaRPr>
          </a:p>
          <a:p>
            <a:pPr algn="just"/>
            <a:r>
              <a:rPr lang="en-US" sz="2400" dirty="0" smtClean="0">
                <a:latin typeface="Book Antiqua" panose="02040602050305030304" pitchFamily="18" charset="0"/>
              </a:rPr>
              <a:t>The Circuit currently has one Chief Magistrate Court Kasese.</a:t>
            </a:r>
          </a:p>
          <a:p>
            <a:pPr algn="just"/>
            <a:r>
              <a:rPr lang="en-US" sz="2400" b="1" i="1" dirty="0" smtClean="0">
                <a:latin typeface="Book Antiqua" panose="02040602050305030304" pitchFamily="18" charset="0"/>
              </a:rPr>
              <a:t>Kasese Chief Magistrates </a:t>
            </a:r>
            <a:r>
              <a:rPr lang="en-US" sz="2400" b="1" i="1" dirty="0">
                <a:latin typeface="Book Antiqua" panose="02040602050305030304" pitchFamily="18" charset="0"/>
              </a:rPr>
              <a:t>C</a:t>
            </a:r>
            <a:r>
              <a:rPr lang="en-US" sz="2400" b="1" i="1" dirty="0" smtClean="0">
                <a:latin typeface="Book Antiqua" panose="02040602050305030304" pitchFamily="18" charset="0"/>
              </a:rPr>
              <a:t>ourt has the following Sub Courts;</a:t>
            </a:r>
          </a:p>
          <a:p>
            <a:pPr algn="just"/>
            <a:r>
              <a:rPr lang="en-US" sz="2400" i="1" dirty="0" smtClean="0">
                <a:latin typeface="Book Antiqua" panose="02040602050305030304" pitchFamily="18" charset="0"/>
              </a:rPr>
              <a:t>1.Hima G1</a:t>
            </a:r>
          </a:p>
          <a:p>
            <a:pPr algn="just"/>
            <a:r>
              <a:rPr lang="en-US" sz="2400" i="1" dirty="0" smtClean="0">
                <a:latin typeface="Book Antiqua" panose="02040602050305030304" pitchFamily="18" charset="0"/>
              </a:rPr>
              <a:t>2.Kisinga G1</a:t>
            </a:r>
          </a:p>
          <a:p>
            <a:pPr algn="just"/>
            <a:r>
              <a:rPr lang="en-US" sz="2400" i="1" dirty="0" smtClean="0">
                <a:latin typeface="Book Antiqua" panose="02040602050305030304" pitchFamily="18" charset="0"/>
              </a:rPr>
              <a:t>3.Bwera G1</a:t>
            </a:r>
          </a:p>
          <a:p>
            <a:pPr algn="just"/>
            <a:r>
              <a:rPr lang="en-US" sz="2400" i="1" dirty="0" smtClean="0">
                <a:latin typeface="Book Antiqua" panose="02040602050305030304" pitchFamily="18" charset="0"/>
              </a:rPr>
              <a:t>4.L.Katwe G1 &amp; G11 </a:t>
            </a:r>
            <a:endParaRPr lang="en-US" sz="2400" i="1" dirty="0">
              <a:latin typeface="Book Antiqua" panose="02040602050305030304" pitchFamily="18" charset="0"/>
            </a:endParaRPr>
          </a:p>
          <a:p>
            <a:pPr algn="just"/>
            <a:endParaRPr lang="en-US" sz="2400" b="1" i="1" dirty="0" smtClean="0">
              <a:latin typeface="Bookman Old Style" panose="02050604050505020204" pitchFamily="18" charset="0"/>
            </a:endParaRPr>
          </a:p>
          <a:p>
            <a:pPr algn="just"/>
            <a:endParaRPr lang="en-US" sz="2400" b="1" i="1" dirty="0">
              <a:latin typeface="Bookman Old Style" panose="02050604050505020204" pitchFamily="18" charset="0"/>
            </a:endParaRPr>
          </a:p>
          <a:p>
            <a:pPr algn="just"/>
            <a:r>
              <a:rPr lang="en-US" sz="2400" b="1" i="1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2</a:t>
            </a:fld>
            <a:endParaRPr lang="en-US"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563" y="1066800"/>
            <a:ext cx="8822436" cy="3657158"/>
            <a:chOff x="321563" y="1014502"/>
            <a:chExt cx="8822436" cy="3155161"/>
          </a:xfrm>
        </p:grpSpPr>
        <p:sp>
          <p:nvSpPr>
            <p:cNvPr id="3" name="object 3"/>
            <p:cNvSpPr/>
            <p:nvPr/>
          </p:nvSpPr>
          <p:spPr>
            <a:xfrm>
              <a:off x="842009" y="2059686"/>
              <a:ext cx="7677784" cy="894715"/>
            </a:xfrm>
            <a:custGeom>
              <a:avLst/>
              <a:gdLst/>
              <a:ahLst/>
              <a:cxnLst/>
              <a:rect l="l" t="t" r="r" b="b"/>
              <a:pathLst>
                <a:path w="7677784" h="894714">
                  <a:moveTo>
                    <a:pt x="3880612" y="0"/>
                  </a:moveTo>
                  <a:lnTo>
                    <a:pt x="3880612" y="805306"/>
                  </a:lnTo>
                  <a:lnTo>
                    <a:pt x="7677658" y="805306"/>
                  </a:lnTo>
                  <a:lnTo>
                    <a:pt x="7677658" y="894206"/>
                  </a:lnTo>
                </a:path>
                <a:path w="7677784" h="894714">
                  <a:moveTo>
                    <a:pt x="3880612" y="0"/>
                  </a:moveTo>
                  <a:lnTo>
                    <a:pt x="3880612" y="805306"/>
                  </a:lnTo>
                  <a:lnTo>
                    <a:pt x="6443345" y="805306"/>
                  </a:lnTo>
                  <a:lnTo>
                    <a:pt x="6443345" y="894206"/>
                  </a:lnTo>
                </a:path>
                <a:path w="7677784" h="894714">
                  <a:moveTo>
                    <a:pt x="3880612" y="0"/>
                  </a:moveTo>
                  <a:lnTo>
                    <a:pt x="3880612" y="805306"/>
                  </a:lnTo>
                  <a:lnTo>
                    <a:pt x="5186553" y="805306"/>
                  </a:lnTo>
                  <a:lnTo>
                    <a:pt x="5186553" y="894206"/>
                  </a:lnTo>
                </a:path>
                <a:path w="7677784" h="894714">
                  <a:moveTo>
                    <a:pt x="3880612" y="0"/>
                  </a:moveTo>
                  <a:lnTo>
                    <a:pt x="3880612" y="805306"/>
                  </a:lnTo>
                  <a:lnTo>
                    <a:pt x="3863466" y="805306"/>
                  </a:lnTo>
                  <a:lnTo>
                    <a:pt x="3863466" y="894206"/>
                  </a:lnTo>
                </a:path>
                <a:path w="7677784" h="894714">
                  <a:moveTo>
                    <a:pt x="3880612" y="0"/>
                  </a:moveTo>
                  <a:lnTo>
                    <a:pt x="3880612" y="805306"/>
                  </a:lnTo>
                  <a:lnTo>
                    <a:pt x="2571495" y="805306"/>
                  </a:lnTo>
                  <a:lnTo>
                    <a:pt x="2571495" y="894206"/>
                  </a:lnTo>
                </a:path>
                <a:path w="7677784" h="894714">
                  <a:moveTo>
                    <a:pt x="3879595" y="0"/>
                  </a:moveTo>
                  <a:lnTo>
                    <a:pt x="3879595" y="805306"/>
                  </a:lnTo>
                  <a:lnTo>
                    <a:pt x="1290447" y="805306"/>
                  </a:lnTo>
                  <a:lnTo>
                    <a:pt x="1290447" y="894206"/>
                  </a:lnTo>
                </a:path>
                <a:path w="7677784" h="894714">
                  <a:moveTo>
                    <a:pt x="3880357" y="0"/>
                  </a:moveTo>
                  <a:lnTo>
                    <a:pt x="3880357" y="805306"/>
                  </a:lnTo>
                  <a:lnTo>
                    <a:pt x="0" y="805306"/>
                  </a:lnTo>
                  <a:lnTo>
                    <a:pt x="0" y="894206"/>
                  </a:lnTo>
                </a:path>
              </a:pathLst>
            </a:custGeom>
            <a:ln w="25908">
              <a:solidFill>
                <a:srgbClr val="9BB95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1014502"/>
              <a:ext cx="7203057" cy="14117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63" y="2942844"/>
              <a:ext cx="2113788" cy="12161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9" y="2953511"/>
              <a:ext cx="1805939" cy="12161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3735" y="2938272"/>
              <a:ext cx="1859280" cy="11902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3184" y="2938272"/>
              <a:ext cx="1648967" cy="11902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1568" y="2938272"/>
              <a:ext cx="1932431" cy="1190244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33400" y="3296648"/>
          <a:ext cx="8458200" cy="1270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5752">
                <a:tc>
                  <a:txBody>
                    <a:bodyPr/>
                    <a:lstStyle/>
                    <a:p>
                      <a:pPr marR="358140" algn="ctr">
                        <a:lnSpc>
                          <a:spcPts val="1750"/>
                        </a:lnSpc>
                        <a:spcBef>
                          <a:spcPts val="15"/>
                        </a:spcBef>
                      </a:pPr>
                      <a:r>
                        <a:rPr lang="en-US" sz="1600" spc="-2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Kasese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ts val="1765"/>
                        </a:lnSpc>
                      </a:pPr>
                      <a:r>
                        <a:rPr lang="en-US" sz="1600" spc="-20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Bwera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765"/>
                        </a:lnSpc>
                      </a:pPr>
                      <a:r>
                        <a:rPr lang="en-US" sz="1600" spc="-15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L.Katwe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1765"/>
                        </a:lnSpc>
                      </a:pPr>
                      <a:r>
                        <a:rPr lang="en-US" sz="1600" spc="-15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Kisinga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 algn="ctr">
                        <a:lnSpc>
                          <a:spcPts val="1740"/>
                        </a:lnSpc>
                      </a:pPr>
                      <a:r>
                        <a:rPr lang="en-US" sz="1600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Hima</a:t>
                      </a:r>
                      <a:endParaRPr lang="en-US" sz="1600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309245" algn="ctr">
                        <a:lnSpc>
                          <a:spcPts val="1740"/>
                        </a:lnSpc>
                      </a:pPr>
                      <a:r>
                        <a:rPr lang="en-US" sz="16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Magisterial area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82">
                <a:tc>
                  <a:txBody>
                    <a:bodyPr/>
                    <a:lstStyle/>
                    <a:p>
                      <a:pPr marR="360045" algn="ctr">
                        <a:lnSpc>
                          <a:spcPts val="1775"/>
                        </a:lnSpc>
                      </a:pPr>
                      <a:r>
                        <a:rPr sz="1600" spc="-1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Magiste</a:t>
                      </a:r>
                      <a:r>
                        <a:rPr lang="en-US" sz="1600" spc="-1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ri</a:t>
                      </a:r>
                      <a:r>
                        <a:rPr sz="1600" spc="-1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7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Magisterial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7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Magisterial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17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Magisterial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8775" algn="ctr">
                        <a:lnSpc>
                          <a:spcPts val="1650"/>
                        </a:lnSpc>
                      </a:pP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48">
                <a:tc>
                  <a:txBody>
                    <a:bodyPr/>
                    <a:lstStyle/>
                    <a:p>
                      <a:pPr marR="358140" algn="ctr">
                        <a:lnSpc>
                          <a:spcPts val="1845"/>
                        </a:lnSpc>
                        <a:spcBef>
                          <a:spcPts val="20"/>
                        </a:spcBef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area.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area.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8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area.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1845"/>
                        </a:lnSpc>
                      </a:pPr>
                      <a:r>
                        <a:rPr sz="1600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area.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 algn="ctr">
                        <a:lnSpc>
                          <a:spcPts val="1750"/>
                        </a:lnSpc>
                      </a:pP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523745" y="485647"/>
            <a:ext cx="685774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5"/>
              </a:spcBef>
            </a:pPr>
            <a:r>
              <a:rPr sz="2300" b="1" spc="20" dirty="0" smtClean="0">
                <a:latin typeface="Bookman Old Style" panose="02050604050505020204" pitchFamily="18" charset="0"/>
                <a:cs typeface="Times New Roman" panose="02020603050405020304"/>
              </a:rPr>
              <a:t>MAGISTERIAL</a:t>
            </a:r>
            <a:r>
              <a:rPr lang="en-US" sz="2300" b="1" spc="2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300" b="1" spc="20" dirty="0" smtClean="0">
                <a:latin typeface="Bookman Old Style" panose="02050604050505020204" pitchFamily="18" charset="0"/>
                <a:cs typeface="Times New Roman" panose="02020603050405020304"/>
              </a:rPr>
              <a:t>AREAS</a:t>
            </a:r>
            <a:r>
              <a:rPr sz="2300" b="1" spc="-9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300" b="1" spc="-90" dirty="0" smtClean="0">
                <a:latin typeface="Bookman Old Style" panose="02050604050505020204" pitchFamily="18" charset="0"/>
                <a:cs typeface="Times New Roman" panose="02020603050405020304"/>
              </a:rPr>
              <a:t>UNDER KASESE HIGH COURT </a:t>
            </a:r>
            <a:r>
              <a:rPr sz="2300" b="1" spc="-10" dirty="0" smtClean="0">
                <a:latin typeface="Bookman Old Style" panose="02050604050505020204" pitchFamily="18" charset="0"/>
                <a:cs typeface="Times New Roman" panose="02020603050405020304"/>
              </a:rPr>
              <a:t>CIRCURT</a:t>
            </a:r>
            <a:endParaRPr sz="2400"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7"/>
          </p:nvPr>
        </p:nvSpPr>
        <p:spPr>
          <a:xfrm>
            <a:off x="7789671" y="6455410"/>
            <a:ext cx="591820" cy="402590"/>
          </a:xfrm>
        </p:spPr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</a:t>
            </a:fld>
            <a:endParaRPr lang="en-US"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051" y="249427"/>
            <a:ext cx="6963409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0" marR="30480" indent="-1626235">
              <a:lnSpc>
                <a:spcPct val="100000"/>
              </a:lnSpc>
              <a:spcBef>
                <a:spcPts val="100"/>
              </a:spcBef>
            </a:pPr>
            <a:r>
              <a:rPr sz="20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OP</a:t>
            </a:r>
            <a:r>
              <a:rPr sz="2000" spc="-3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E</a:t>
            </a:r>
            <a:r>
              <a:rPr sz="2000" spc="-2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RA</a:t>
            </a:r>
            <a:r>
              <a:rPr sz="2000" spc="-3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T</a:t>
            </a:r>
            <a:r>
              <a:rPr sz="20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IO</a:t>
            </a:r>
            <a:r>
              <a:rPr sz="2000" spc="-2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NA</a:t>
            </a:r>
            <a:r>
              <a:rPr sz="2000" spc="19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L</a:t>
            </a:r>
            <a:r>
              <a:rPr lang="en-GB" sz="2000" spc="19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AN</a:t>
            </a:r>
            <a:r>
              <a:rPr sz="200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D</a:t>
            </a:r>
            <a:r>
              <a:rPr sz="20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SESSION</a:t>
            </a:r>
            <a:r>
              <a:rPr sz="2000" spc="-50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FU</a:t>
            </a:r>
            <a:r>
              <a:rPr sz="2000" spc="5" dirty="0">
                <a:solidFill>
                  <a:srgbClr val="001F5F"/>
                </a:solidFill>
                <a:latin typeface="Bookman Old Style" panose="02050604050505020204" pitchFamily="18" charset="0"/>
              </a:rPr>
              <a:t>N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DS</a:t>
            </a:r>
            <a:r>
              <a:rPr sz="2000" spc="-15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RECEIVED</a:t>
            </a:r>
            <a:r>
              <a:rPr sz="2000" spc="-15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-20" dirty="0">
                <a:solidFill>
                  <a:srgbClr val="001F5F"/>
                </a:solidFill>
                <a:latin typeface="Bookman Old Style" panose="02050604050505020204" pitchFamily="18" charset="0"/>
              </a:rPr>
              <a:t>B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Y</a:t>
            </a:r>
            <a:r>
              <a:rPr sz="2000" spc="-114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spc="-3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KASESE</a:t>
            </a:r>
            <a:r>
              <a:rPr lang="en-US"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-13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HIGH</a:t>
            </a:r>
            <a:r>
              <a:rPr lang="en-US" sz="20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-1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C</a:t>
            </a:r>
            <a:r>
              <a:rPr sz="2000" spc="-1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O</a:t>
            </a:r>
            <a:r>
              <a:rPr sz="2000" spc="-1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UR</a:t>
            </a:r>
            <a:r>
              <a:rPr sz="200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T</a:t>
            </a:r>
            <a:r>
              <a:rPr sz="2000" spc="-10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Bookman Old Style" panose="02050604050505020204" pitchFamily="18" charset="0"/>
              </a:rPr>
              <a:t>C</a:t>
            </a:r>
            <a:r>
              <a:rPr sz="2000" spc="-15" dirty="0">
                <a:solidFill>
                  <a:srgbClr val="001F5F"/>
                </a:solidFill>
                <a:latin typeface="Bookman Old Style" panose="02050604050505020204" pitchFamily="18" charset="0"/>
              </a:rPr>
              <a:t>I</a:t>
            </a:r>
            <a:r>
              <a:rPr sz="2000" spc="-10" dirty="0">
                <a:solidFill>
                  <a:srgbClr val="001F5F"/>
                </a:solidFill>
                <a:latin typeface="Bookman Old Style" panose="02050604050505020204" pitchFamily="18" charset="0"/>
              </a:rPr>
              <a:t>RCU</a:t>
            </a:r>
            <a:r>
              <a:rPr sz="2000" spc="-15" dirty="0">
                <a:solidFill>
                  <a:srgbClr val="001F5F"/>
                </a:solidFill>
                <a:latin typeface="Bookman Old Style" panose="02050604050505020204" pitchFamily="18" charset="0"/>
              </a:rPr>
              <a:t>I</a:t>
            </a:r>
            <a:r>
              <a:rPr sz="2000" dirty="0">
                <a:solidFill>
                  <a:srgbClr val="001F5F"/>
                </a:solidFill>
                <a:latin typeface="Bookman Old Style" panose="02050604050505020204" pitchFamily="18" charset="0"/>
              </a:rPr>
              <a:t>T</a:t>
            </a:r>
            <a:endParaRPr sz="2000" dirty="0">
              <a:latin typeface="Bookman Old Style" panose="02050604050505020204" pitchFamily="18" charset="0"/>
            </a:endParaRPr>
          </a:p>
          <a:p>
            <a:pPr marL="1739265">
              <a:lnSpc>
                <a:spcPct val="100000"/>
              </a:lnSpc>
              <a:spcBef>
                <a:spcPts val="360"/>
              </a:spcBef>
            </a:pPr>
            <a:r>
              <a:rPr sz="1800" spc="-5" dirty="0">
                <a:solidFill>
                  <a:srgbClr val="000000"/>
                </a:solidFill>
                <a:latin typeface="Bookman Old Style" panose="02050604050505020204" pitchFamily="18" charset="0"/>
              </a:rPr>
              <a:t>IN</a:t>
            </a:r>
            <a:r>
              <a:rPr sz="1800" spc="-7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sz="18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</a:t>
            </a:r>
            <a:r>
              <a:rPr sz="1800" spc="-25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GB" sz="18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4</a:t>
            </a:r>
            <a:r>
              <a:rPr lang="en-GB" sz="1800" baseline="300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TH</a:t>
            </a:r>
            <a:r>
              <a:rPr lang="en-GB" sz="18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 </a:t>
            </a:r>
            <a:r>
              <a:rPr sz="1800" spc="-1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QUARTER</a:t>
            </a:r>
            <a:r>
              <a:rPr sz="1800" spc="-45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sz="1800" spc="-5" dirty="0">
                <a:solidFill>
                  <a:srgbClr val="000000"/>
                </a:solidFill>
                <a:latin typeface="Bookman Old Style" panose="02050604050505020204" pitchFamily="18" charset="0"/>
              </a:rPr>
              <a:t>FY</a:t>
            </a:r>
            <a:r>
              <a:rPr sz="1800" spc="-105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spc="-15" dirty="0">
                <a:solidFill>
                  <a:srgbClr val="000000"/>
                </a:solidFill>
                <a:latin typeface="Bookman Old Style" panose="02050604050505020204" pitchFamily="18" charset="0"/>
              </a:rPr>
              <a:t>2024/2025</a:t>
            </a:r>
            <a:endParaRPr sz="1800" dirty="0">
              <a:latin typeface="Bookman Old Style" panose="020506040505050202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0809" y="6390004"/>
            <a:ext cx="367665" cy="47879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fld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197" y="1235202"/>
          <a:ext cx="8915402" cy="3641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6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FUNDS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ALLOCATION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AMOUNT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2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5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Operational</a:t>
                      </a:r>
                      <a:r>
                        <a:rPr sz="18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b="1" spc="-30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funds</a:t>
                      </a:r>
                      <a:endParaRPr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41,400,000=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6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b="1" spc="-3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In house</a:t>
                      </a:r>
                      <a:r>
                        <a:rPr lang="en-GB" sz="1800" b="1" spc="-30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800" b="1" spc="-3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Criminal </a:t>
                      </a:r>
                      <a:r>
                        <a:rPr sz="1800" b="1" spc="-2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800" b="1" spc="-2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Session</a:t>
                      </a:r>
                      <a:endParaRPr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36,750,000=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6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Locus</a:t>
                      </a:r>
                      <a:r>
                        <a:rPr sz="1800" b="1" spc="-70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800" b="1" spc="-1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Funds</a:t>
                      </a:r>
                      <a:endParaRPr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 10,560,000=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85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Deputy Registrar’s locus funds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 </a:t>
                      </a: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3,550,000=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85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RCC Coordination committee</a:t>
                      </a:r>
                      <a:endParaRPr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GB" sz="18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 </a:t>
                      </a: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5,650,000=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01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spc="-10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endParaRPr sz="20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n-GB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97,910,000=</a:t>
                      </a:r>
                      <a:endParaRPr sz="18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6985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3400" y="5275157"/>
            <a:ext cx="746315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spcBef>
                <a:spcPts val="100"/>
              </a:spcBef>
              <a:tabLst>
                <a:tab pos="324485" algn="l"/>
                <a:tab pos="325120" algn="l"/>
              </a:tabLst>
            </a:pPr>
            <a:r>
              <a:rPr lang="en-US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Kasese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High</a:t>
            </a:r>
            <a:r>
              <a:rPr sz="2000" spc="-2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Court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received</a:t>
            </a:r>
            <a:r>
              <a:rPr sz="2000" spc="-6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a</a:t>
            </a:r>
            <a:r>
              <a:rPr sz="2000" spc="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total</a:t>
            </a:r>
            <a:r>
              <a:rPr sz="2000" spc="-3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amount</a:t>
            </a:r>
            <a:r>
              <a:rPr sz="2000" spc="-2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b="1" spc="-20" dirty="0" smtClean="0">
                <a:latin typeface="Bookman Old Style" panose="02050604050505020204" pitchFamily="18" charset="0"/>
                <a:cs typeface="Times New Roman" panose="02020603050405020304"/>
              </a:rPr>
              <a:t>97,910,000= (</a:t>
            </a:r>
            <a:r>
              <a:rPr lang="en-GB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Ninty </a:t>
            </a:r>
            <a:r>
              <a:rPr lang="en-GB" sz="2000" b="1" dirty="0">
                <a:latin typeface="Bookman Old Style" panose="02050604050505020204" pitchFamily="18" charset="0"/>
                <a:cs typeface="Times New Roman" panose="02020603050405020304"/>
              </a:rPr>
              <a:t>seven millions nine hundred thousand  </a:t>
            </a:r>
            <a:r>
              <a:rPr lang="en-GB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shillings 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o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. All the funds have been accounted for.</a:t>
            </a:r>
            <a:endParaRPr lang="en-GB" sz="2000" spc="-15" dirty="0" smtClean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4</a:t>
            </a:fld>
            <a:endParaRPr lang="en-US"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52400"/>
            <a:ext cx="7539101" cy="130740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endParaRPr lang="en-US" sz="2000" b="1" spc="-30" dirty="0" smtClean="0">
              <a:solidFill>
                <a:srgbClr val="001F5F"/>
              </a:solidFill>
              <a:latin typeface="Bookman Old Style" panose="02050604050505020204" pitchFamily="18" charset="0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2000" b="1" spc="-3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SU</a:t>
            </a:r>
            <a:r>
              <a:rPr sz="2000" b="1" spc="-2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MM</a:t>
            </a:r>
            <a:r>
              <a:rPr sz="2000" b="1" spc="-3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AR</a:t>
            </a:r>
            <a:r>
              <a:rPr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Y</a:t>
            </a:r>
            <a:r>
              <a:rPr sz="2000" b="1" spc="-9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O</a:t>
            </a:r>
            <a:r>
              <a:rPr sz="2000" b="1" spc="-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F</a:t>
            </a:r>
            <a:r>
              <a:rPr sz="2000" b="1" spc="-4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G</a:t>
            </a:r>
            <a:r>
              <a:rPr sz="2000" b="1" spc="-1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E</a:t>
            </a:r>
            <a:r>
              <a:rPr sz="2000" b="1" spc="-20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N</a:t>
            </a:r>
            <a:r>
              <a:rPr sz="2000" b="1" spc="-1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E</a:t>
            </a:r>
            <a:r>
              <a:rPr sz="2000" b="1" spc="-20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RA</a:t>
            </a:r>
            <a:r>
              <a:rPr sz="2000" b="1" spc="-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L</a:t>
            </a:r>
            <a:r>
              <a:rPr sz="2000" b="1" spc="-100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PERFOR</a:t>
            </a:r>
            <a:r>
              <a:rPr sz="2000" b="1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M</a:t>
            </a:r>
            <a:r>
              <a:rPr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ANCE</a:t>
            </a:r>
            <a:r>
              <a:rPr lang="en-GB"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DURING THE 4</a:t>
            </a:r>
            <a:r>
              <a:rPr lang="en-GB" sz="2000" b="1" spc="-5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 QUARTER ( 1</a:t>
            </a:r>
            <a:r>
              <a:rPr lang="en-GB" sz="2000" b="1" spc="-5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ST</a:t>
            </a:r>
            <a:r>
              <a:rPr lang="en-GB"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APRIL-30</a:t>
            </a:r>
            <a:r>
              <a:rPr lang="en-GB" sz="2000" b="1" spc="-5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sz="2000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JUNE ) 2024/2025</a:t>
            </a: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endParaRPr lang="en-GB" sz="2000" b="1" spc="-5" dirty="0" smtClean="0">
              <a:solidFill>
                <a:srgbClr val="001F5F"/>
              </a:solidFill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61681" y="6488150"/>
            <a:ext cx="4248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fld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800" y="1447800"/>
          <a:ext cx="8549005" cy="4120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789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category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52070" marR="283845" algn="just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Brought </a:t>
                      </a:r>
                      <a:r>
                        <a:rPr sz="1600" b="1" spc="-44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o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w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 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(BF)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Registered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52070" marR="289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Completed</a:t>
                      </a:r>
                      <a:r>
                        <a:rPr sz="1600" b="1" spc="-7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52070" marR="460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Pending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600" b="1" spc="-2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</a:t>
                      </a:r>
                      <a:r>
                        <a:rPr lang="en-US" sz="1600" b="1" spc="-2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s</a:t>
                      </a:r>
                      <a:r>
                        <a:rPr sz="1600" b="1" spc="-2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600" b="1" spc="-434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(Case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Work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Load)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Backlog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Cases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90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Criminal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50"/>
                        </a:spcBef>
                      </a:pPr>
                      <a:r>
                        <a:rPr lang="en-US" sz="16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065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16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Civil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129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119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710"/>
                        </a:spcBef>
                      </a:pPr>
                      <a:r>
                        <a:rPr lang="en-US" sz="16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27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9017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600" b="1" spc="-2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Family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55"/>
                        </a:spcBef>
                      </a:pPr>
                      <a:r>
                        <a:rPr lang="en-US" sz="16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128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0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600" b="1" spc="-1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Land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60"/>
                        </a:spcBef>
                      </a:pPr>
                      <a:r>
                        <a:rPr lang="en-US" sz="160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23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192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91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Exe</a:t>
                      </a:r>
                      <a:r>
                        <a:rPr sz="1600" b="1" spc="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</a:t>
                      </a:r>
                      <a:r>
                        <a:rPr sz="16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ution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965"/>
                        </a:spcBef>
                      </a:pP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255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91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6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endParaRPr sz="16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385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153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354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965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53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255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5</a:t>
            </a:fld>
            <a:endParaRPr lang="en-US"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GB" spc="-5" smtClean="0"/>
              <a:t>6</a:t>
            </a:fld>
            <a:endParaRPr lang="en-GB" spc="-5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1524000" y="1397000"/>
          <a:ext cx="6096000" cy="43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1270761"/>
            <a:ext cx="8688705" cy="4884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7945" algn="just">
              <a:lnSpc>
                <a:spcPct val="110000"/>
              </a:lnSpc>
              <a:spcBef>
                <a:spcPts val="100"/>
              </a:spcBef>
            </a:pP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The workload for </a:t>
            </a:r>
            <a:r>
              <a:rPr sz="2000" spc="10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spc="114" dirty="0" smtClean="0">
                <a:latin typeface="Bookman Old Style" panose="02050604050505020204" pitchFamily="18" charset="0"/>
                <a:cs typeface="Times New Roman" panose="02020603050405020304"/>
              </a:rPr>
              <a:t>4</a:t>
            </a:r>
            <a:r>
              <a:rPr lang="en-US" sz="2000" spc="114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US" sz="2000" spc="114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Quarter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stood at</a:t>
            </a:r>
            <a:r>
              <a:rPr sz="2000" spc="10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354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cases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marking a decrease by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31 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cases compared to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385</a:t>
            </a:r>
            <a:r>
              <a:rPr sz="2000" b="1" spc="5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cases</a:t>
            </a:r>
            <a:r>
              <a:rPr sz="2000" spc="-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in</a:t>
            </a:r>
            <a:r>
              <a:rPr sz="2000" spc="-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3</a:t>
            </a:r>
            <a:r>
              <a:rPr lang="en-GB" sz="2000" spc="-5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rd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232" baseline="2500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Qtr.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(FY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202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4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/2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5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).</a:t>
            </a: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L="76200" marR="68580" algn="just">
              <a:lnSpc>
                <a:spcPct val="110000"/>
              </a:lnSpc>
            </a:pP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For the period under review, the 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Court 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registered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122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cases 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reflecting a decrease by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13</a:t>
            </a:r>
            <a:r>
              <a:rPr lang="en-US" sz="200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cases from the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135 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cases registered</a:t>
            </a:r>
            <a:r>
              <a:rPr sz="2000" spc="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i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n the 3</a:t>
            </a:r>
            <a:r>
              <a:rPr lang="en-US" sz="2000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rd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 Quarter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.</a:t>
            </a: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L="76200" algn="just">
              <a:lnSpc>
                <a:spcPct val="100000"/>
              </a:lnSpc>
            </a:pP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sz="2000" spc="31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spc="315" dirty="0" smtClean="0">
                <a:latin typeface="Bookman Old Style" panose="02050604050505020204" pitchFamily="18" charset="0"/>
                <a:cs typeface="Times New Roman" panose="02020603050405020304"/>
              </a:rPr>
              <a:t>Resident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Judge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and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the Deputy</a:t>
            </a:r>
            <a:r>
              <a:rPr sz="2000" spc="29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Registrar</a:t>
            </a:r>
            <a:r>
              <a:rPr sz="2000" spc="31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disposed</a:t>
            </a:r>
            <a:r>
              <a:rPr sz="2000" spc="30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of</a:t>
            </a:r>
            <a:r>
              <a:rPr sz="2000" spc="30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153</a:t>
            </a:r>
            <a:r>
              <a:rPr sz="2000" b="1" spc="305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ca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ses</a:t>
            </a:r>
            <a:r>
              <a:rPr sz="2000" spc="30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in</a:t>
            </a:r>
            <a:r>
              <a:rPr sz="2000" spc="3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sz="2000" spc="3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period</a:t>
            </a:r>
            <a:r>
              <a:rPr sz="2000" spc="3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under</a:t>
            </a:r>
            <a:r>
              <a:rPr sz="2000" spc="3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review,</a:t>
            </a:r>
            <a:r>
              <a:rPr sz="2000" spc="30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000" spc="-5" dirty="0">
                <a:latin typeface="Bookman Old Style" panose="02050604050505020204" pitchFamily="18" charset="0"/>
                <a:cs typeface="Times New Roman" panose="02020603050405020304"/>
              </a:rPr>
              <a:t>which 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represents an increase by </a:t>
            </a:r>
            <a:r>
              <a:rPr lang="en-GB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20 </a:t>
            </a:r>
            <a:r>
              <a:rPr lang="en-GB" sz="2000" spc="-5" dirty="0">
                <a:latin typeface="Bookman Old Style" panose="02050604050505020204" pitchFamily="18" charset="0"/>
                <a:cs typeface="Times New Roman" panose="02020603050405020304"/>
              </a:rPr>
              <a:t>c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ases compared to the </a:t>
            </a:r>
            <a:r>
              <a:rPr lang="en-GB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133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cases disposed of in the 3</a:t>
            </a:r>
            <a:r>
              <a:rPr lang="en-GB" sz="2000" spc="-5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rd</a:t>
            </a:r>
            <a:r>
              <a:rPr lang="en-GB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  Quarter. </a:t>
            </a: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L="76200" marR="67310" algn="just">
              <a:lnSpc>
                <a:spcPct val="110000"/>
              </a:lnSpc>
            </a:pP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The 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Court </a:t>
            </a:r>
            <a:r>
              <a:rPr sz="2000" spc="-10" dirty="0" smtClean="0">
                <a:latin typeface="Bookman Old Style" panose="02050604050505020204" pitchFamily="18" charset="0"/>
                <a:cs typeface="Times New Roman" panose="02020603050405020304"/>
              </a:rPr>
              <a:t>ha</a:t>
            </a:r>
            <a:r>
              <a:rPr lang="en-US" sz="2000" spc="-10" dirty="0" smtClean="0">
                <a:latin typeface="Bookman Old Style" panose="02050604050505020204" pitchFamily="18" charset="0"/>
                <a:cs typeface="Times New Roman" panose="02020603050405020304"/>
              </a:rPr>
              <a:t>s</a:t>
            </a:r>
            <a:r>
              <a:rPr sz="2000" spc="-1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a total backlog of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/>
              </a:rPr>
              <a:t>53</a:t>
            </a:r>
            <a:r>
              <a:rPr sz="2000" b="1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000" spc="-5" dirty="0">
                <a:latin typeface="Bookman Old Style" panose="02050604050505020204" pitchFamily="18" charset="0"/>
                <a:cs typeface="Times New Roman" panose="02020603050405020304"/>
              </a:rPr>
              <a:t>cases as </a:t>
            </a:r>
            <a:r>
              <a:rPr sz="2000" dirty="0">
                <a:latin typeface="Bookman Old Style" panose="02050604050505020204" pitchFamily="18" charset="0"/>
                <a:cs typeface="Times New Roman" panose="02020603050405020304"/>
              </a:rPr>
              <a:t>of 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3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0</a:t>
            </a:r>
            <a:r>
              <a:rPr lang="en-US" sz="2000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/>
              </a:rPr>
              <a:t> June</a:t>
            </a:r>
            <a:r>
              <a:rPr sz="2000" dirty="0" smtClean="0">
                <a:latin typeface="Bookman Old Style" panose="02050604050505020204" pitchFamily="18" charset="0"/>
                <a:cs typeface="Times New Roman" panose="02020603050405020304"/>
              </a:rPr>
              <a:t>,</a:t>
            </a:r>
            <a:r>
              <a:rPr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202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5 representing a decrease by </a:t>
            </a:r>
            <a:r>
              <a:rPr lang="en-US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10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cases compared to </a:t>
            </a:r>
            <a:r>
              <a:rPr lang="en-US" sz="2000" b="1" spc="-5" dirty="0" smtClean="0">
                <a:latin typeface="Bookman Old Style" panose="02050604050505020204" pitchFamily="18" charset="0"/>
                <a:cs typeface="Times New Roman" panose="02020603050405020304"/>
              </a:rPr>
              <a:t>63 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cases in the 3</a:t>
            </a:r>
            <a:r>
              <a:rPr lang="en-US" sz="2000" spc="-5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rd</a:t>
            </a:r>
            <a:r>
              <a:rPr lang="en-US" sz="2000" spc="-5" dirty="0" smtClean="0">
                <a:latin typeface="Bookman Old Style" panose="02050604050505020204" pitchFamily="18" charset="0"/>
                <a:cs typeface="Times New Roman" panose="02020603050405020304"/>
              </a:rPr>
              <a:t>   Quarter.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3245" y="212504"/>
            <a:ext cx="8433994" cy="738664"/>
          </a:xfrm>
        </p:spPr>
        <p:txBody>
          <a:bodyPr/>
          <a:lstStyle/>
          <a:p>
            <a:pPr algn="ctr"/>
            <a:r>
              <a:rPr lang="en-GB" sz="2400" spc="-5" dirty="0" smtClean="0">
                <a:solidFill>
                  <a:srgbClr val="660066"/>
                </a:solidFill>
                <a:latin typeface="Bookman Old Style" panose="02050604050505020204" pitchFamily="18" charset="0"/>
              </a:rPr>
              <a:t>SUMMARY OF PEFORMANCE FOR THE 4</a:t>
            </a:r>
            <a:r>
              <a:rPr lang="en-GB" sz="2400" spc="-5" baseline="30000" dirty="0" smtClean="0">
                <a:solidFill>
                  <a:srgbClr val="660066"/>
                </a:solidFill>
                <a:latin typeface="Bookman Old Style" panose="02050604050505020204" pitchFamily="18" charset="0"/>
              </a:rPr>
              <a:t>TH</a:t>
            </a:r>
            <a:r>
              <a:rPr lang="en-GB" sz="2400" spc="-5" dirty="0" smtClean="0">
                <a:solidFill>
                  <a:srgbClr val="660066"/>
                </a:solidFill>
                <a:latin typeface="Bookman Old Style" panose="02050604050505020204" pitchFamily="18" charset="0"/>
              </a:rPr>
              <a:t>  QUARTER </a:t>
            </a:r>
            <a:r>
              <a:rPr lang="en-GB" sz="2400" dirty="0" smtClean="0">
                <a:solidFill>
                  <a:srgbClr val="660066"/>
                </a:solidFill>
                <a:latin typeface="Bookman Old Style" panose="02050604050505020204" pitchFamily="18" charset="0"/>
              </a:rPr>
              <a:t> 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7</a:t>
            </a:fld>
            <a:endParaRPr lang="en-US"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7883" y="256126"/>
            <a:ext cx="6457950" cy="59182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lang="en-GB" b="1" spc="-25" dirty="0" smtClean="0">
                <a:latin typeface="Bookman Old Style" panose="02050604050505020204" pitchFamily="18" charset="0"/>
                <a:cs typeface="Times New Roman" panose="02020603050405020304"/>
              </a:rPr>
              <a:t>WORKLOAD BEFORE EACH JUDICIAL OFFICER</a:t>
            </a:r>
            <a:endParaRPr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As</a:t>
            </a:r>
            <a:r>
              <a:rPr b="1" spc="-50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spc="-1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at</a:t>
            </a:r>
            <a:r>
              <a:rPr b="1" spc="-35" dirty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b="1" spc="-1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30</a:t>
            </a:r>
            <a:r>
              <a:rPr lang="en-GB" b="1" spc="-10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b="1" spc="-1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June </a:t>
            </a:r>
            <a:r>
              <a:rPr b="1" spc="-3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spc="-2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202</a:t>
            </a:r>
            <a:r>
              <a:rPr lang="en-US" b="1" spc="-2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5</a:t>
            </a:r>
            <a:endParaRPr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1681" y="6488150"/>
            <a:ext cx="4248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fld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990601"/>
          <a:ext cx="8229600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19584">
                <a:tc>
                  <a:txBody>
                    <a:bodyPr/>
                    <a:lstStyle/>
                    <a:p>
                      <a:pPr marL="51435" marR="1860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400" b="1" spc="-1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</a:t>
                      </a:r>
                      <a:r>
                        <a:rPr sz="1400" b="1" spc="-1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at</a:t>
                      </a:r>
                      <a:r>
                        <a:rPr sz="1400" b="1" spc="-1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e</a:t>
                      </a:r>
                      <a:r>
                        <a:rPr sz="1400" b="1" spc="-1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go</a:t>
                      </a:r>
                      <a:r>
                        <a:rPr sz="1400" b="1" spc="-1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</a:t>
                      </a:r>
                      <a:r>
                        <a:rPr lang="en-US" sz="1400" b="1" spc="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y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125095" marR="118745" indent="116840" algn="ctr">
                        <a:lnSpc>
                          <a:spcPts val="2320"/>
                        </a:lnSpc>
                        <a:spcBef>
                          <a:spcPts val="15"/>
                        </a:spcBef>
                      </a:pPr>
                      <a:r>
                        <a:rPr sz="1400" b="1" spc="-5" dirty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Hon. </a:t>
                      </a:r>
                      <a:r>
                        <a:rPr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Justice</a:t>
                      </a:r>
                      <a:r>
                        <a:rPr lang="en-US" sz="1400" b="1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LAWRENCE TWEYANZE</a:t>
                      </a:r>
                      <a:endParaRPr sz="14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085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HON. JUSTICE</a:t>
                      </a:r>
                    </a:p>
                    <a:p>
                      <a:pPr marL="0" marR="45085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DAVID S.L.</a:t>
                      </a:r>
                      <a:r>
                        <a:rPr lang="en-US" sz="1400" b="1" spc="-5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MAKUMBI</a:t>
                      </a:r>
                      <a:endParaRPr lang="en-US" sz="14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Deputy</a:t>
                      </a:r>
                      <a:r>
                        <a:rPr lang="en-US" sz="1400" b="1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Registrar</a:t>
                      </a:r>
                    </a:p>
                    <a:p>
                      <a:pPr marR="450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1400" b="1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H/W NKWASIBWE IVAN</a:t>
                      </a:r>
                      <a:endParaRPr sz="14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r>
                        <a:rPr lang="en-US" sz="1400" b="1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PENDING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598">
                <a:tc>
                  <a:txBody>
                    <a:bodyPr/>
                    <a:lstStyle/>
                    <a:p>
                      <a:pPr marL="51435">
                        <a:lnSpc>
                          <a:spcPts val="2115"/>
                        </a:lnSpc>
                        <a:spcBef>
                          <a:spcPts val="90"/>
                        </a:spcBef>
                      </a:pPr>
                      <a:r>
                        <a:rPr sz="14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Criminal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67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69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708">
                <a:tc>
                  <a:txBody>
                    <a:bodyPr/>
                    <a:lstStyle/>
                    <a:p>
                      <a:pPr marL="51435">
                        <a:lnSpc>
                          <a:spcPts val="2115"/>
                        </a:lnSpc>
                        <a:spcBef>
                          <a:spcPts val="90"/>
                        </a:spcBef>
                      </a:pPr>
                      <a:r>
                        <a:rPr sz="1400" b="1" spc="-1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Civil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85</a:t>
                      </a:r>
                    </a:p>
                    <a:p>
                      <a:pPr algn="ctr" fontAlgn="ctr"/>
                      <a:endParaRPr lang="en-US" sz="1400" b="1" i="0" u="none" strike="noStrike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9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25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119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708">
                <a:tc>
                  <a:txBody>
                    <a:bodyPr/>
                    <a:lstStyle/>
                    <a:p>
                      <a:pPr marL="51435">
                        <a:lnSpc>
                          <a:spcPts val="2115"/>
                        </a:lnSpc>
                        <a:spcBef>
                          <a:spcPts val="90"/>
                        </a:spcBef>
                      </a:pPr>
                      <a:r>
                        <a:rPr lang="en-GB" sz="1400" b="1" spc="-2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Family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27</a:t>
                      </a:r>
                    </a:p>
                    <a:p>
                      <a:pPr algn="ctr" fontAlgn="ctr"/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30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249">
                <a:tc>
                  <a:txBody>
                    <a:bodyPr/>
                    <a:lstStyle/>
                    <a:p>
                      <a:pPr marL="51435">
                        <a:lnSpc>
                          <a:spcPts val="2115"/>
                        </a:lnSpc>
                        <a:spcBef>
                          <a:spcPts val="90"/>
                        </a:spcBef>
                      </a:pPr>
                      <a:r>
                        <a:rPr lang="en-GB" sz="1400" b="1" spc="-1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Land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77</a:t>
                      </a:r>
                    </a:p>
                    <a:p>
                      <a:pPr algn="ctr" fontAlgn="ctr"/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28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127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598">
                <a:tc>
                  <a:txBody>
                    <a:bodyPr/>
                    <a:lstStyle/>
                    <a:p>
                      <a:pPr marL="51435">
                        <a:lnSpc>
                          <a:spcPts val="2115"/>
                        </a:lnSpc>
                        <a:spcBef>
                          <a:spcPts val="90"/>
                        </a:spcBef>
                      </a:pPr>
                      <a:r>
                        <a:rPr sz="14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Execution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09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09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5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Total</a:t>
                      </a:r>
                      <a:endParaRPr sz="1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256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  <a:endParaRPr lang="en-US" sz="16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354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8</a:t>
            </a:fld>
            <a:endParaRPr lang="en-US"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282" y="226228"/>
            <a:ext cx="75685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PERFORMANCE PER</a:t>
            </a:r>
            <a:r>
              <a:rPr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400" spc="-25" dirty="0">
                <a:solidFill>
                  <a:srgbClr val="001F5F"/>
                </a:solidFill>
                <a:latin typeface="Bookman Old Style" panose="02050604050505020204" pitchFamily="18" charset="0"/>
              </a:rPr>
              <a:t>JUDICIAL</a:t>
            </a:r>
            <a:r>
              <a:rPr sz="2400" spc="5" dirty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r>
              <a:rPr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OFFICER</a:t>
            </a:r>
            <a:r>
              <a:rPr lang="en-GB"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DURING THE  4</a:t>
            </a:r>
            <a:r>
              <a:rPr lang="en-GB" sz="2400" spc="-25" baseline="30000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TH</a:t>
            </a:r>
            <a:r>
              <a:rPr lang="en-GB"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QUARTER</a:t>
            </a:r>
            <a:r>
              <a:rPr lang="en-US" sz="2400" spc="-25" dirty="0" smtClean="0">
                <a:solidFill>
                  <a:srgbClr val="001F5F"/>
                </a:solidFill>
                <a:latin typeface="Bookman Old Style" panose="02050604050505020204" pitchFamily="18" charset="0"/>
              </a:rPr>
              <a:t> </a:t>
            </a:r>
            <a:endParaRPr sz="2400" dirty="0">
              <a:latin typeface="Bookman Old Style" panose="020506040505050202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61681" y="6488150"/>
            <a:ext cx="4248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fld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799" y="1142997"/>
          <a:ext cx="8610600" cy="42306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0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8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193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S/N</a:t>
                      </a:r>
                    </a:p>
                  </a:txBody>
                  <a:tcPr marL="0" marR="0" marT="12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Judicial</a:t>
                      </a:r>
                      <a:r>
                        <a:rPr sz="1800" b="1" spc="-65" dirty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Officer</a:t>
                      </a:r>
                    </a:p>
                  </a:txBody>
                  <a:tcPr marL="0" marR="0" marT="12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B/F</a:t>
                      </a: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Registered</a:t>
                      </a: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Completed</a:t>
                      </a: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Total</a:t>
                      </a:r>
                      <a:r>
                        <a:rPr lang="en-GB" sz="1800" b="1" baseline="0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Workload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1.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HON.</a:t>
                      </a:r>
                      <a:r>
                        <a:rPr lang="en-US" sz="1800" b="1" spc="-2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18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JUSTICE</a:t>
                      </a:r>
                      <a:r>
                        <a:rPr lang="en-US" sz="1800" b="1" spc="-4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1800" b="1" spc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LAWRENCE</a:t>
                      </a:r>
                      <a:r>
                        <a:rPr lang="en-US" sz="1800" b="1" spc="0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TWEYANZE</a:t>
                      </a:r>
                      <a:endParaRPr lang="en-US" sz="18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244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237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2.</a:t>
                      </a:r>
                      <a:endParaRPr sz="1800" b="1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Times New Roman" panose="02020603050405020304"/>
                        </a:rPr>
                        <a:t>HON.</a:t>
                      </a:r>
                      <a:r>
                        <a:rPr kumimoji="0" lang="en-US" sz="1800" b="1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Times New Roman" panose="02020603050405020304"/>
                        </a:rPr>
                        <a:t> </a:t>
                      </a:r>
                      <a:r>
                        <a:rPr kumimoji="0" lang="en-US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Times New Roman" panose="02020603050405020304"/>
                        </a:rPr>
                        <a:t>JUSTICE</a:t>
                      </a:r>
                      <a:r>
                        <a:rPr kumimoji="0" lang="en-US" sz="1800" b="1" i="0" u="none" strike="noStrike" kern="0" cap="none" spc="-45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Times New Roman" panose="02020603050405020304"/>
                        </a:rPr>
                        <a:t> </a:t>
                      </a:r>
                      <a:r>
                        <a:rPr kumimoji="0" lang="en-US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Times New Roman" panose="02020603050405020304"/>
                        </a:rPr>
                        <a:t>DAVID S.L.MAKUMBI</a:t>
                      </a:r>
                      <a:endParaRPr kumimoji="0" lang="en-US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ea typeface="+mn-ea"/>
                        <a:cs typeface="Times New Roman" panose="02020603050405020304"/>
                      </a:endParaRPr>
                    </a:p>
                  </a:txBody>
                  <a:tcPr marL="0" marR="0" marT="17970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3.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lang="en-US" sz="1800" b="1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H/W NKWASIBWE IVAN</a:t>
                      </a:r>
                    </a:p>
                  </a:txBody>
                  <a:tcPr marL="0" marR="0" marT="17970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6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     </a:t>
                      </a:r>
                      <a:r>
                        <a:rPr sz="18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endParaRPr sz="18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385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153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354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9</a:t>
            </a:fld>
            <a:endParaRPr lang="en-US"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BAR CHART INDICATING </a:t>
            </a:r>
            <a:r>
              <a:rPr lang="en-US" dirty="0" smtClean="0">
                <a:solidFill>
                  <a:srgbClr val="7030A0"/>
                </a:solidFill>
              </a:rPr>
              <a:t>WORKLOAD AND PERFOMANCE </a:t>
            </a:r>
            <a:r>
              <a:rPr lang="en-US" dirty="0">
                <a:solidFill>
                  <a:srgbClr val="7030A0"/>
                </a:solidFill>
              </a:rPr>
              <a:t>PER JUDICIAL </a:t>
            </a:r>
            <a:r>
              <a:rPr lang="en-US" dirty="0" smtClean="0">
                <a:solidFill>
                  <a:srgbClr val="7030A0"/>
                </a:solidFill>
              </a:rPr>
              <a:t>OFFICER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GB" spc="-5" smtClean="0"/>
              <a:t>10</a:t>
            </a:fld>
            <a:endParaRPr lang="en-GB" spc="-5" dirty="0"/>
          </a:p>
        </p:txBody>
      </p:sp>
      <p:graphicFrame>
        <p:nvGraphicFramePr>
          <p:cNvPr id="7" name="Chart 6"/>
          <p:cNvGraphicFramePr/>
          <p:nvPr/>
        </p:nvGraphicFramePr>
        <p:xfrm>
          <a:off x="762000" y="1143000"/>
          <a:ext cx="7691502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75692"/>
            <a:ext cx="711593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NATURE OF DISPOSAL PER INDIVIDUAL JUDICIAL OFFICER</a:t>
            </a:r>
            <a:r>
              <a:rPr sz="18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sz="18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3090457"/>
              </p:ext>
            </p:extLst>
          </p:nvPr>
        </p:nvGraphicFramePr>
        <p:xfrm>
          <a:off x="0" y="793976"/>
          <a:ext cx="9143999" cy="6089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42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4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33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727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337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337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587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990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50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3271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771462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S/N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Judicial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Officer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9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94424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9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Dismissed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944245" marR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Withdrawn</a:t>
                      </a:r>
                      <a:endParaRPr lang="en-US" sz="900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94424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94424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GB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Mediation</a:t>
                      </a:r>
                      <a:r>
                        <a:rPr lang="en-GB" sz="900" b="1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settled fully</a:t>
                      </a:r>
                      <a:endParaRPr lang="en-GB" sz="9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94424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15252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Parties </a:t>
                      </a:r>
                      <a:r>
                        <a:rPr lang="en-US" sz="900" b="1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conscented</a:t>
                      </a:r>
                      <a:endParaRPr sz="9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15252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US" sz="900" b="1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Pleabargain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933450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Convicted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591820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US" sz="900" b="1" spc="-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File </a:t>
                      </a:r>
                      <a:r>
                        <a:rPr lang="en-US" sz="900" b="1" spc="-5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transfered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55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95440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Acquitted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4541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GB" sz="900" b="1" spc="-5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Closed Administratively </a:t>
                      </a:r>
                    </a:p>
                    <a:p>
                      <a:pPr marL="14541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82486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Application</a:t>
                      </a:r>
                    </a:p>
                    <a:p>
                      <a:pPr marL="82486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Granted</a:t>
                      </a:r>
                      <a:endParaRPr sz="9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549275" marR="64770" indent="345440" algn="r">
                        <a:lnSpc>
                          <a:spcPct val="115000"/>
                        </a:lnSpc>
                        <a:spcBef>
                          <a:spcPts val="325"/>
                        </a:spcBef>
                      </a:pPr>
                      <a:r>
                        <a:rPr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Ruling</a:t>
                      </a:r>
                      <a:r>
                        <a:rPr sz="900" b="1" spc="25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900" b="1" spc="25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Delivered</a:t>
                      </a:r>
                    </a:p>
                    <a:p>
                      <a:pPr marL="549275" marR="64770" indent="345440" algn="r">
                        <a:lnSpc>
                          <a:spcPct val="115000"/>
                        </a:lnSpc>
                        <a:spcBef>
                          <a:spcPts val="325"/>
                        </a:spcBef>
                      </a:pPr>
                      <a:endParaRPr lang="en-US" sz="900" b="1" spc="250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41275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062990" marR="64135" indent="-247015" algn="r">
                        <a:lnSpc>
                          <a:spcPts val="1930"/>
                        </a:lnSpc>
                        <a:spcBef>
                          <a:spcPts val="255"/>
                        </a:spcBef>
                      </a:pPr>
                      <a:r>
                        <a:rPr sz="900" b="1" spc="-10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</a:t>
                      </a:r>
                      <a:r>
                        <a:rPr sz="900" b="1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ppl</a:t>
                      </a:r>
                      <a:r>
                        <a:rPr lang="en-US" sz="900" b="1" dirty="0" err="1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n</a:t>
                      </a: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.</a:t>
                      </a:r>
                      <a:r>
                        <a:rPr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Not</a:t>
                      </a:r>
                      <a:r>
                        <a:rPr lang="en-US" sz="900" b="1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Granted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32384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279400" marR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Delivered</a:t>
                      </a:r>
                      <a:r>
                        <a:rPr lang="en-US" sz="900" b="1" baseline="0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9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Judgment</a:t>
                      </a:r>
                      <a:endParaRPr lang="en-US" sz="900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27940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27940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Consent</a:t>
                      </a:r>
                      <a:r>
                        <a:rPr sz="900" b="1" spc="-6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Judgment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Bill</a:t>
                      </a:r>
                      <a:r>
                        <a:rPr sz="900" b="1" spc="-5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900" b="1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Taxed</a:t>
                      </a:r>
                      <a:endParaRPr sz="9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7620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100" b="1" spc="-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endParaRPr sz="11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6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 smtClean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600" b="1" spc="5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1.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Hon.</a:t>
                      </a:r>
                      <a:r>
                        <a:rPr lang="en-GB" sz="1400" b="1" spc="-2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Justice</a:t>
                      </a:r>
                      <a:r>
                        <a:rPr lang="en-GB" sz="1400" b="1" spc="-4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400" b="1" spc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Lawrence </a:t>
                      </a:r>
                      <a:r>
                        <a:rPr lang="en-GB" sz="1400" b="1" spc="0" dirty="0" err="1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Tweyanze</a:t>
                      </a:r>
                      <a:endParaRPr lang="en-GB" sz="1400" b="1" spc="0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25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05  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09</a:t>
                      </a: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05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06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05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b="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GB" sz="16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73</a:t>
                      </a:r>
                      <a:endParaRPr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61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Hon.</a:t>
                      </a:r>
                      <a:r>
                        <a:rPr lang="en-GB" sz="1400" b="1" spc="-2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Justice</a:t>
                      </a:r>
                      <a:r>
                        <a:rPr lang="en-GB" sz="1400" b="1" spc="-4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400" b="1" spc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David</a:t>
                      </a:r>
                      <a:r>
                        <a:rPr lang="en-GB" sz="1400" b="1" spc="0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S.L </a:t>
                      </a:r>
                      <a:r>
                        <a:rPr lang="en-GB" sz="1400" b="1" spc="0" baseline="0" dirty="0" err="1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Makumbi</a:t>
                      </a:r>
                      <a:endParaRPr lang="en-GB" sz="1400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04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11</a:t>
                      </a: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09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b="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GB" sz="16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32</a:t>
                      </a:r>
                      <a:endParaRPr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2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600" b="1" spc="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3.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14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H/W</a:t>
                      </a:r>
                      <a:r>
                        <a:rPr lang="en-US" sz="1400" b="1" spc="-5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1400" b="1" spc="-5" dirty="0" err="1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Nkwasibwe</a:t>
                      </a:r>
                      <a:r>
                        <a:rPr lang="en-US"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Ivan</a:t>
                      </a:r>
                      <a:endParaRPr lang="en-US" sz="1400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04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14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06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03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48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GB" sz="1600" b="1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endParaRPr lang="en-US" sz="1400" dirty="0" smtClean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marL="68580" algn="l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r>
                        <a:rPr lang="en-US" sz="1400" b="1" baseline="0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29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06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07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10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04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09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18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US" alt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</a:t>
                      </a: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6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US" alt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</a:t>
                      </a: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6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15</a:t>
                      </a:r>
                      <a:endParaRPr sz="16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lang="en-GB" sz="16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</a:t>
                      </a:r>
                      <a:r>
                        <a:rPr lang="en-US" altLang="en-GB" sz="16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7</a:t>
                      </a: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</a:t>
                      </a:r>
                    </a:p>
                    <a:p>
                      <a:r>
                        <a:rPr lang="en-US" dirty="0" smtClean="0"/>
                        <a:t>  11</a:t>
                      </a:r>
                      <a:endParaRPr lang="en-US" dirty="0"/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 153</a:t>
                      </a:r>
                      <a:endParaRPr lang="en-US" b="1" dirty="0"/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pPr algn="ctr"/>
            <a:r>
              <a:rPr lang="en-US" dirty="0" smtClean="0"/>
              <a:t>BAR CHART REPRESENTING TOTAL DISPOSAL PER EACH JUDICIAL OFFICER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397000"/>
            <a:ext cx="6096000" cy="405637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GB" spc="-5" smtClean="0"/>
              <a:t>12</a:t>
            </a:fld>
            <a:endParaRPr lang="en-GB" spc="-5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923594710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r>
              <a:rPr lang="en-US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PENDING RULINGS AND JUDGMENTS PER JUDICIAL OFFICER – AS AT 30</a:t>
            </a:r>
            <a:r>
              <a:rPr lang="en-US" baseline="30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TH</a:t>
            </a:r>
            <a:r>
              <a:rPr lang="en-US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JUNE 2025</a:t>
            </a:r>
            <a:endParaRPr 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13</a:t>
            </a:fld>
            <a:endParaRPr lang="en-US" spc="-5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986608"/>
          <a:ext cx="9144000" cy="467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94482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SN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JUDICIAL</a:t>
                      </a:r>
                      <a:r>
                        <a:rPr lang="en-US" sz="2000" b="1" baseline="0" dirty="0" smtClean="0">
                          <a:latin typeface="Bookman Old Style" panose="02050604050505020204" pitchFamily="18" charset="0"/>
                        </a:rPr>
                        <a:t> OFFICER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PENDING</a:t>
                      </a:r>
                      <a:r>
                        <a:rPr lang="en-US" sz="2000" b="1" baseline="0" dirty="0" smtClean="0">
                          <a:latin typeface="Bookman Old Style" panose="02050604050505020204" pitchFamily="18" charset="0"/>
                        </a:rPr>
                        <a:t> RULINGS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PENDING JUDGMENTS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TOTAL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51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1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Hon. Justice Lawrence</a:t>
                      </a:r>
                      <a:r>
                        <a:rPr lang="en-US" sz="2000" b="1" baseline="0" dirty="0" smtClean="0">
                          <a:latin typeface="Bookman Old Style" panose="02050604050505020204" pitchFamily="18" charset="0"/>
                        </a:rPr>
                        <a:t> Tweyanze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01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02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03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12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Hon. Justice David S.L. Makumbi</a:t>
                      </a:r>
                      <a:endParaRPr kumimoji="0" lang="en-US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06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27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33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736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3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Bookman Old Style" panose="02050604050505020204" pitchFamily="18" charset="0"/>
                        </a:rPr>
                        <a:t>Deputy Registrar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00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00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00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736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latin typeface="Bookman Old Style" panose="02050604050505020204" pitchFamily="18" charset="0"/>
                        </a:rPr>
                        <a:t>Grand</a:t>
                      </a:r>
                      <a:r>
                        <a:rPr lang="en-US" sz="1800" b="1" baseline="0" dirty="0" smtClean="0">
                          <a:latin typeface="Bookman Old Style" panose="02050604050505020204" pitchFamily="18" charset="0"/>
                        </a:rPr>
                        <a:t> Total</a:t>
                      </a:r>
                      <a:endParaRPr lang="en-US" sz="18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07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 </a:t>
                      </a:r>
                    </a:p>
                    <a:p>
                      <a:r>
                        <a:rPr lang="en-GB" sz="2000" b="1" smtClean="0">
                          <a:latin typeface="Bookman Old Style" panose="02050604050505020204" pitchFamily="18" charset="0"/>
                        </a:rPr>
                        <a:t>29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b="1" dirty="0" smtClean="0">
                        <a:latin typeface="Bookman Old Style" panose="02050604050505020204" pitchFamily="18" charset="0"/>
                      </a:endParaRPr>
                    </a:p>
                    <a:p>
                      <a:r>
                        <a:rPr lang="en-GB" sz="2000" b="1" dirty="0" smtClean="0">
                          <a:latin typeface="Bookman Old Style" panose="02050604050505020204" pitchFamily="18" charset="0"/>
                        </a:rPr>
                        <a:t>36</a:t>
                      </a:r>
                      <a:endParaRPr lang="en-US" sz="20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9099" y="154894"/>
            <a:ext cx="872490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             A  COMPARISON OF THE 3</a:t>
            </a:r>
            <a:r>
              <a:rPr lang="en-US" sz="2400" b="1" spc="-5" baseline="30000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RD</a:t>
            </a:r>
            <a:r>
              <a:rPr lang="en-US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 QUARTER  WITH THE 4</a:t>
            </a:r>
            <a:r>
              <a:rPr lang="en-US" sz="2400" b="1" spc="-5" baseline="30000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TH</a:t>
            </a:r>
            <a:r>
              <a:rPr lang="en-US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QUARTER  2024/2025 OF </a:t>
            </a:r>
            <a:r>
              <a:rPr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CASES</a:t>
            </a:r>
            <a:r>
              <a:rPr lang="en-GB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DISPOSED</a:t>
            </a:r>
            <a:r>
              <a:rPr lang="en-GB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OF</a:t>
            </a:r>
            <a:r>
              <a:rPr sz="2400" b="1" spc="-1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THROUGH </a:t>
            </a:r>
            <a:r>
              <a:rPr lang="en-GB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MEDIATION</a:t>
            </a:r>
            <a:r>
              <a:rPr sz="2400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 smtClean="0">
                <a:solidFill>
                  <a:srgbClr val="9900FF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solidFill>
                <a:srgbClr val="9900FF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14</a:t>
            </a:fld>
            <a:endParaRPr lang="en-US" spc="-5" dirty="0"/>
          </a:p>
        </p:txBody>
      </p:sp>
      <p:sp>
        <p:nvSpPr>
          <p:cNvPr id="6" name="Rectangle 5"/>
          <p:cNvSpPr/>
          <p:nvPr/>
        </p:nvSpPr>
        <p:spPr>
          <a:xfrm>
            <a:off x="381000" y="5118014"/>
            <a:ext cx="89979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671955">
              <a:spcBef>
                <a:spcPts val="310"/>
              </a:spcBef>
            </a:pPr>
            <a:endParaRPr lang="en-US" sz="1600" b="1" spc="-5"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131143"/>
              </p:ext>
            </p:extLst>
          </p:nvPr>
        </p:nvGraphicFramePr>
        <p:xfrm>
          <a:off x="0" y="1371599"/>
          <a:ext cx="9144000" cy="49987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88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226">
                  <a:extLst>
                    <a:ext uri="{9D8B030D-6E8A-4147-A177-3AD203B41FA5}">
                      <a16:colId xmlns:a16="http://schemas.microsoft.com/office/drawing/2014/main" val="3047940029"/>
                    </a:ext>
                  </a:extLst>
                </a:gridCol>
                <a:gridCol w="1257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789">
                  <a:extLst>
                    <a:ext uri="{9D8B030D-6E8A-4147-A177-3AD203B41FA5}">
                      <a16:colId xmlns:a16="http://schemas.microsoft.com/office/drawing/2014/main" val="3052748324"/>
                    </a:ext>
                  </a:extLst>
                </a:gridCol>
                <a:gridCol w="1419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875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S/NO.</a:t>
                      </a:r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Judicial Officer</a:t>
                      </a:r>
                    </a:p>
                    <a:p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Mediation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(ME)</a:t>
                      </a:r>
                    </a:p>
                    <a:p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 Completed through Mediation.</a:t>
                      </a:r>
                    </a:p>
                    <a:p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Mediation</a:t>
                      </a:r>
                    </a:p>
                    <a:p>
                      <a:r>
                        <a:rPr lang="en-US" sz="1600" dirty="0" smtClean="0"/>
                        <a:t>(ME)</a:t>
                      </a:r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 Completed through Mediation.</a:t>
                      </a:r>
                    </a:p>
                    <a:p>
                      <a:endParaRPr lang="en-US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976">
                <a:tc>
                  <a:txBody>
                    <a:bodyPr/>
                    <a:lstStyle/>
                    <a:p>
                      <a:endParaRPr lang="en-US" sz="2000" b="1" dirty="0" smtClean="0"/>
                    </a:p>
                    <a:p>
                      <a:r>
                        <a:rPr lang="en-US" sz="2000" b="1" dirty="0" smtClean="0"/>
                        <a:t>1.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1" dirty="0" smtClean="0"/>
                    </a:p>
                    <a:p>
                      <a:r>
                        <a:rPr lang="en-US" sz="2000" b="1" dirty="0" smtClean="0"/>
                        <a:t>Hon.</a:t>
                      </a:r>
                      <a:r>
                        <a:rPr lang="en-US" sz="2000" b="1" baseline="0" dirty="0" smtClean="0"/>
                        <a:t> Justice Lawrence Tweyanze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b="1" dirty="0" smtClean="0"/>
                    </a:p>
                    <a:p>
                      <a:pPr algn="r"/>
                      <a:endParaRPr lang="en-US" sz="2000" b="1" dirty="0" smtClean="0"/>
                    </a:p>
                    <a:p>
                      <a:pPr algn="r"/>
                      <a:r>
                        <a:rPr lang="en-US" sz="2000" b="1" dirty="0" smtClean="0"/>
                        <a:t>05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b="1" dirty="0" smtClean="0"/>
                    </a:p>
                    <a:p>
                      <a:pPr algn="r"/>
                      <a:r>
                        <a:rPr lang="en-US" sz="2000" b="1" dirty="0" smtClean="0"/>
                        <a:t>                      05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512">
                <a:tc>
                  <a:txBody>
                    <a:bodyPr/>
                    <a:lstStyle/>
                    <a:p>
                      <a:endParaRPr lang="en-GB" sz="2000" b="1" dirty="0" smtClean="0"/>
                    </a:p>
                    <a:p>
                      <a:endParaRPr lang="en-GB" sz="2000" b="1" dirty="0" smtClean="0"/>
                    </a:p>
                    <a:p>
                      <a:r>
                        <a:rPr lang="en-GB" sz="2000" b="1" dirty="0" smtClean="0"/>
                        <a:t>2.</a:t>
                      </a: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1" dirty="0" smtClean="0"/>
                    </a:p>
                    <a:p>
                      <a:endParaRPr lang="en-US" sz="2000" b="1" dirty="0" smtClean="0"/>
                    </a:p>
                    <a:p>
                      <a:r>
                        <a:rPr lang="en-US" sz="2000" b="1" dirty="0" smtClean="0"/>
                        <a:t>HW </a:t>
                      </a:r>
                      <a:r>
                        <a:rPr lang="en-US" sz="2000" b="1" dirty="0" err="1" smtClean="0"/>
                        <a:t>Nkwasibwe</a:t>
                      </a:r>
                      <a:r>
                        <a:rPr lang="en-US" sz="2000" b="1" baseline="0" dirty="0" smtClean="0"/>
                        <a:t> Ivan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b="1" dirty="0" smtClean="0"/>
                    </a:p>
                    <a:p>
                      <a:pPr algn="r"/>
                      <a:endParaRPr lang="en-US" sz="2000" b="1" dirty="0" smtClean="0"/>
                    </a:p>
                    <a:p>
                      <a:pPr algn="r"/>
                      <a:r>
                        <a:rPr lang="en-US" sz="2000" b="1" dirty="0" smtClean="0"/>
                        <a:t>                </a:t>
                      </a:r>
                    </a:p>
                    <a:p>
                      <a:pPr algn="r"/>
                      <a:r>
                        <a:rPr lang="en-US" sz="2000" b="1" dirty="0" smtClean="0"/>
                        <a:t>02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dirty="0" smtClean="0"/>
                    </a:p>
                    <a:p>
                      <a:pPr algn="r"/>
                      <a:r>
                        <a:rPr lang="en-US" sz="1600" b="1" dirty="0" smtClean="0"/>
                        <a:t>                   </a:t>
                      </a:r>
                    </a:p>
                    <a:p>
                      <a:pPr algn="r"/>
                      <a:r>
                        <a:rPr lang="en-US" sz="1600" b="1" dirty="0" smtClean="0"/>
                        <a:t>                 </a:t>
                      </a:r>
                      <a:r>
                        <a:rPr lang="en-US" sz="1600" b="1" baseline="0" dirty="0" smtClean="0"/>
                        <a:t> </a:t>
                      </a:r>
                      <a:r>
                        <a:rPr lang="en-US" sz="1600" b="1" dirty="0" smtClean="0"/>
                        <a:t>   </a:t>
                      </a:r>
                    </a:p>
                    <a:p>
                      <a:pPr algn="r"/>
                      <a:r>
                        <a:rPr lang="en-US" sz="1600" b="1" dirty="0" smtClean="0"/>
                        <a:t> </a:t>
                      </a:r>
                      <a:r>
                        <a:rPr lang="en-US" sz="2000" b="1" dirty="0" smtClean="0"/>
                        <a:t>02</a:t>
                      </a:r>
                    </a:p>
                    <a:p>
                      <a:pPr algn="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8756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1" dirty="0" smtClean="0"/>
                    </a:p>
                    <a:p>
                      <a:r>
                        <a:rPr lang="en-US" sz="2000" b="1" dirty="0" smtClean="0"/>
                        <a:t>Total</a:t>
                      </a:r>
                      <a:endParaRPr lang="en-US" sz="20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endParaRPr lang="en-GB" sz="2000" b="1" dirty="0" smtClean="0"/>
                    </a:p>
                    <a:p>
                      <a:pPr algn="r"/>
                      <a:r>
                        <a:rPr lang="en-GB" sz="2000" b="1" dirty="0" smtClean="0"/>
                        <a:t>00</a:t>
                      </a:r>
                      <a:endParaRPr lang="en-US" sz="20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/>
                        <a:t>                 </a:t>
                      </a:r>
                    </a:p>
                    <a:p>
                      <a:pPr algn="r"/>
                      <a:r>
                        <a:rPr lang="en-US" sz="2000" b="1" dirty="0" smtClean="0"/>
                        <a:t>                                          </a:t>
                      </a:r>
                    </a:p>
                    <a:p>
                      <a:pPr algn="r"/>
                      <a:endParaRPr lang="en-US" sz="2000" b="1" dirty="0" smtClean="0"/>
                    </a:p>
                    <a:p>
                      <a:pPr algn="r"/>
                      <a:r>
                        <a:rPr lang="en-US" sz="2000" b="1" dirty="0" smtClean="0"/>
                        <a:t>07</a:t>
                      </a:r>
                      <a:endParaRPr lang="en-US" sz="20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/>
                        <a:t>                     </a:t>
                      </a:r>
                    </a:p>
                    <a:p>
                      <a:pPr algn="r"/>
                      <a:endParaRPr lang="en-US" sz="2000" b="1" dirty="0" smtClean="0"/>
                    </a:p>
                    <a:p>
                      <a:pPr algn="r"/>
                      <a:r>
                        <a:rPr lang="en-US" sz="2000" b="1" dirty="0" smtClean="0"/>
                        <a:t>                                               07</a:t>
                      </a:r>
                      <a:endPara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9377" y="268604"/>
            <a:ext cx="548386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Bookman Old Style" panose="02050604050505020204" pitchFamily="18" charset="0"/>
                <a:cs typeface="Times New Roman" panose="02020603050405020304"/>
              </a:rPr>
              <a:t>BACKLOG</a:t>
            </a:r>
            <a:r>
              <a:rPr b="1" spc="1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spc="-5" dirty="0">
                <a:latin typeface="Bookman Old Style" panose="02050604050505020204" pitchFamily="18" charset="0"/>
                <a:cs typeface="Times New Roman" panose="02020603050405020304"/>
              </a:rPr>
              <a:t>CASES</a:t>
            </a:r>
            <a:r>
              <a:rPr b="1" spc="-2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spc="-5" dirty="0" smtClean="0">
                <a:latin typeface="Bookman Old Style" panose="02050604050505020204" pitchFamily="18" charset="0"/>
                <a:cs typeface="Times New Roman" panose="02020603050405020304"/>
              </a:rPr>
              <a:t>STATUS</a:t>
            </a:r>
            <a:r>
              <a:rPr lang="en-GB" b="1" spc="-5" dirty="0" smtClean="0">
                <a:latin typeface="Bookman Old Style" panose="02050604050505020204" pitchFamily="18" charset="0"/>
                <a:cs typeface="Times New Roman" panose="02020603050405020304"/>
              </a:rPr>
              <a:t> AS AT END OF THE 4</a:t>
            </a:r>
            <a:r>
              <a:rPr lang="en-GB" b="1" spc="-5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b="1" spc="-5" dirty="0" smtClean="0">
                <a:latin typeface="Bookman Old Style" panose="02050604050505020204" pitchFamily="18" charset="0"/>
                <a:cs typeface="Times New Roman" panose="02020603050405020304"/>
              </a:rPr>
              <a:t>  QUARTER</a:t>
            </a:r>
            <a:endParaRPr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1522" y="1066800"/>
          <a:ext cx="8513878" cy="30568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93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9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489">
                <a:tc>
                  <a:txBody>
                    <a:bodyPr/>
                    <a:lstStyle/>
                    <a:p>
                      <a:pPr marL="52070" marR="24803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1400" spc="-25" dirty="0" smtClean="0"/>
                        <a:t> CASE </a:t>
                      </a:r>
                      <a:endParaRPr lang="en-US"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494790" marR="261620" indent="-127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GB" sz="1400" spc="-15" dirty="0" smtClean="0"/>
                        <a:t>TOTAL</a:t>
                      </a:r>
                      <a:r>
                        <a:rPr lang="en-GB" sz="1400" spc="-25" dirty="0" smtClean="0"/>
                        <a:t> </a:t>
                      </a:r>
                      <a:r>
                        <a:rPr lang="en-GB" sz="1400" spc="-15" dirty="0" smtClean="0"/>
                        <a:t>BACKLOG </a:t>
                      </a:r>
                      <a:r>
                        <a:rPr lang="en-GB" sz="1400" spc="-5" dirty="0" smtClean="0"/>
                        <a:t>AS</a:t>
                      </a:r>
                      <a:r>
                        <a:rPr lang="en-GB" sz="1400" spc="-30" dirty="0" smtClean="0"/>
                        <a:t> </a:t>
                      </a:r>
                      <a:r>
                        <a:rPr lang="en-GB" sz="1400" dirty="0" smtClean="0"/>
                        <a:t>AT</a:t>
                      </a:r>
                      <a:r>
                        <a:rPr lang="en-GB" sz="1400" spc="-20" dirty="0" smtClean="0"/>
                        <a:t> 30</a:t>
                      </a:r>
                      <a:r>
                        <a:rPr lang="en-GB" sz="1400" spc="-20" baseline="30000" dirty="0" smtClean="0"/>
                        <a:t>TH</a:t>
                      </a:r>
                      <a:r>
                        <a:rPr lang="en-GB" sz="1400" spc="-20" dirty="0" smtClean="0"/>
                        <a:t> JUNE 2025</a:t>
                      </a:r>
                      <a:endParaRPr lang="en-GB"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14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15" dirty="0"/>
                        <a:t>Criminal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50"/>
                        </a:spcBef>
                      </a:pPr>
                      <a:r>
                        <a:rPr lang="en-GB" sz="2000" b="1" dirty="0" smtClean="0"/>
                        <a:t>02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06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47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15" dirty="0"/>
                        <a:t>Civil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710"/>
                        </a:spcBef>
                      </a:pPr>
                      <a:r>
                        <a:rPr lang="en-GB" sz="2000" b="1" dirty="0" smtClean="0"/>
                        <a:t>27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901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88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25" dirty="0"/>
                        <a:t>Land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55"/>
                        </a:spcBef>
                      </a:pPr>
                      <a:r>
                        <a:rPr lang="en-GB" sz="2000" b="1" dirty="0" smtClean="0"/>
                        <a:t>23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776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10" dirty="0"/>
                        <a:t>Family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ts val="960"/>
                        </a:spcBef>
                      </a:pPr>
                      <a:r>
                        <a:rPr lang="en-GB" sz="2000" b="1" dirty="0" smtClean="0"/>
                        <a:t>01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19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5" dirty="0"/>
                        <a:t>Executions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965"/>
                        </a:spcBef>
                      </a:pPr>
                      <a:r>
                        <a:rPr lang="en-GB" sz="2000" b="1" dirty="0" smtClean="0"/>
                        <a:t>00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25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15" dirty="0"/>
                        <a:t>Total</a:t>
                      </a:r>
                      <a:endParaRPr sz="20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965"/>
                        </a:spcBef>
                      </a:pPr>
                      <a:r>
                        <a:rPr lang="en-GB" sz="2000" b="1" dirty="0" smtClean="0"/>
                        <a:t>53</a:t>
                      </a:r>
                      <a:endParaRPr sz="20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225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01524" y="4011930"/>
            <a:ext cx="8132876" cy="2780889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227330" indent="-215265" algn="just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26695" algn="l"/>
                <a:tab pos="227965" algn="l"/>
              </a:tabLst>
            </a:pPr>
            <a:r>
              <a:rPr sz="2400" dirty="0" smtClean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lang="en-US" sz="2400" spc="-3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dirty="0">
                <a:latin typeface="Bookman Old Style" panose="02050604050505020204" pitchFamily="18" charset="0"/>
                <a:cs typeface="Times New Roman" panose="02020603050405020304"/>
              </a:rPr>
              <a:t>total</a:t>
            </a:r>
            <a:r>
              <a:rPr sz="2400" spc="-4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dirty="0">
                <a:latin typeface="Bookman Old Style" panose="02050604050505020204" pitchFamily="18" charset="0"/>
                <a:cs typeface="Times New Roman" panose="02020603050405020304"/>
              </a:rPr>
              <a:t>backlog</a:t>
            </a:r>
            <a:r>
              <a:rPr sz="2400" spc="-1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dirty="0">
                <a:latin typeface="Bookman Old Style" panose="02050604050505020204" pitchFamily="18" charset="0"/>
                <a:cs typeface="Times New Roman" panose="02020603050405020304"/>
              </a:rPr>
              <a:t>at</a:t>
            </a:r>
            <a:r>
              <a:rPr sz="2400" spc="-4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-40" dirty="0" smtClean="0">
                <a:latin typeface="Bookman Old Style" panose="02050604050505020204" pitchFamily="18" charset="0"/>
                <a:cs typeface="Times New Roman" panose="02020603050405020304"/>
              </a:rPr>
              <a:t>the </a:t>
            </a:r>
            <a:r>
              <a:rPr sz="2400" dirty="0" smtClean="0">
                <a:latin typeface="Bookman Old Style" panose="02050604050505020204" pitchFamily="18" charset="0"/>
                <a:cs typeface="Times New Roman" panose="02020603050405020304"/>
              </a:rPr>
              <a:t>Court</a:t>
            </a:r>
            <a:r>
              <a:rPr sz="2400" spc="-1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-5" dirty="0" smtClean="0">
                <a:latin typeface="Bookman Old Style" panose="02050604050505020204" pitchFamily="18" charset="0"/>
                <a:cs typeface="Times New Roman" panose="02020603050405020304"/>
              </a:rPr>
              <a:t>as </a:t>
            </a:r>
            <a:r>
              <a:rPr sz="2400" dirty="0" smtClean="0">
                <a:latin typeface="Bookman Old Style" panose="02050604050505020204" pitchFamily="18" charset="0"/>
                <a:cs typeface="Times New Roman" panose="02020603050405020304"/>
              </a:rPr>
              <a:t>at</a:t>
            </a:r>
            <a:r>
              <a:rPr sz="2400" spc="-3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-30" dirty="0" smtClean="0">
                <a:latin typeface="Bookman Old Style" panose="02050604050505020204" pitchFamily="18" charset="0"/>
                <a:cs typeface="Times New Roman" panose="02020603050405020304"/>
              </a:rPr>
              <a:t>30</a:t>
            </a:r>
            <a:r>
              <a:rPr lang="en-GB" sz="2400" spc="-30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sz="2400" spc="-30" dirty="0" smtClean="0">
                <a:latin typeface="Bookman Old Style" panose="02050604050505020204" pitchFamily="18" charset="0"/>
                <a:cs typeface="Times New Roman" panose="02020603050405020304"/>
              </a:rPr>
              <a:t> June 2025 stood at </a:t>
            </a:r>
            <a:r>
              <a:rPr lang="en-US" sz="2400" b="1" spc="-15" dirty="0" smtClean="0">
                <a:latin typeface="Bookman Old Style" panose="02050604050505020204" pitchFamily="18" charset="0"/>
                <a:cs typeface="Times New Roman" panose="02020603050405020304"/>
              </a:rPr>
              <a:t>53</a:t>
            </a:r>
            <a:r>
              <a:rPr sz="2400" b="1" spc="-25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b="1" spc="-15" dirty="0" smtClean="0">
                <a:latin typeface="Bookman Old Style" panose="02050604050505020204" pitchFamily="18" charset="0"/>
                <a:cs typeface="Times New Roman" panose="02020603050405020304"/>
              </a:rPr>
              <a:t>cases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. It has reduced by </a:t>
            </a:r>
            <a:r>
              <a:rPr lang="en-GB" sz="2400" b="1" spc="-10" dirty="0" smtClean="0">
                <a:latin typeface="Bookman Old Style" panose="02050604050505020204" pitchFamily="18" charset="0"/>
                <a:cs typeface="Times New Roman" panose="02020603050405020304"/>
              </a:rPr>
              <a:t>10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 cases from the previous Quarter that stood at </a:t>
            </a:r>
            <a:r>
              <a:rPr lang="en-GB" sz="2400" b="1" spc="-10" dirty="0" smtClean="0">
                <a:latin typeface="Bookman Old Style" panose="02050604050505020204" pitchFamily="18" charset="0"/>
                <a:cs typeface="Times New Roman" panose="02020603050405020304"/>
              </a:rPr>
              <a:t>63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 cases as at 31</a:t>
            </a:r>
            <a:r>
              <a:rPr lang="en-GB" sz="2400" spc="-10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st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 March 2025.</a:t>
            </a:r>
            <a:endParaRPr sz="24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L="227330" indent="-215265" algn="just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226695" algn="l"/>
                <a:tab pos="227965" algn="l"/>
              </a:tabLst>
            </a:pPr>
            <a:r>
              <a:rPr sz="2400" spc="-15" dirty="0" smtClean="0">
                <a:latin typeface="Bookman Old Style" panose="02050604050505020204" pitchFamily="18" charset="0"/>
                <a:cs typeface="Times New Roman" panose="02020603050405020304"/>
              </a:rPr>
              <a:t>C</a:t>
            </a:r>
            <a:r>
              <a:rPr lang="en-GB" sz="2400" spc="-15" dirty="0" err="1" smtClean="0">
                <a:latin typeface="Bookman Old Style" panose="02050604050505020204" pitchFamily="18" charset="0"/>
                <a:cs typeface="Times New Roman" panose="02020603050405020304"/>
              </a:rPr>
              <a:t>ivil</a:t>
            </a:r>
            <a:r>
              <a:rPr lang="en-GB" sz="2400" spc="-1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case </a:t>
            </a:r>
            <a:r>
              <a:rPr lang="en-US" sz="2400" spc="-15" dirty="0" smtClean="0">
                <a:latin typeface="Bookman Old Style" panose="02050604050505020204" pitchFamily="18" charset="0"/>
                <a:cs typeface="Times New Roman" panose="02020603050405020304"/>
              </a:rPr>
              <a:t>b</a:t>
            </a:r>
            <a:r>
              <a:rPr sz="2400" spc="-15" dirty="0">
                <a:latin typeface="Bookman Old Style" panose="02050604050505020204" pitchFamily="18" charset="0"/>
                <a:cs typeface="Times New Roman" panose="02020603050405020304"/>
              </a:rPr>
              <a:t>acklog</a:t>
            </a:r>
            <a:r>
              <a:rPr sz="2400" spc="-1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is the highest at </a:t>
            </a:r>
            <a:r>
              <a:rPr lang="en-GB" sz="2400" spc="10" dirty="0" smtClean="0">
                <a:latin typeface="Bookman Old Style" panose="02050604050505020204" pitchFamily="18" charset="0"/>
                <a:cs typeface="Times New Roman" panose="02020603050405020304"/>
              </a:rPr>
              <a:t>27</a:t>
            </a:r>
            <a:r>
              <a:rPr lang="en-GB" sz="2400" spc="1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GB" sz="2400" spc="10" dirty="0" smtClean="0">
                <a:latin typeface="Bookman Old Style" panose="02050604050505020204" pitchFamily="18" charset="0"/>
                <a:cs typeface="Times New Roman" panose="02020603050405020304"/>
              </a:rPr>
              <a:t>cases</a:t>
            </a:r>
            <a:r>
              <a:rPr lang="en-GB" sz="2400" spc="1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/>
              </a:rPr>
              <a:t>  </a:t>
            </a:r>
            <a:r>
              <a:rPr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of </a:t>
            </a:r>
            <a:r>
              <a:rPr sz="2400" spc="-10" dirty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sz="2400" spc="-2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spc="-10" dirty="0">
                <a:latin typeface="Bookman Old Style" panose="02050604050505020204" pitchFamily="18" charset="0"/>
                <a:cs typeface="Times New Roman" panose="02020603050405020304"/>
              </a:rPr>
              <a:t>total </a:t>
            </a:r>
            <a:r>
              <a:rPr lang="en-GB" sz="2400" spc="-10" dirty="0" smtClean="0">
                <a:latin typeface="Bookman Old Style" panose="02050604050505020204" pitchFamily="18" charset="0"/>
                <a:cs typeface="Times New Roman" panose="02020603050405020304"/>
              </a:rPr>
              <a:t>case </a:t>
            </a:r>
            <a:r>
              <a:rPr sz="2400" spc="-15" dirty="0" smtClean="0">
                <a:latin typeface="Bookman Old Style" panose="02050604050505020204" pitchFamily="18" charset="0"/>
                <a:cs typeface="Times New Roman" panose="02020603050405020304"/>
              </a:rPr>
              <a:t>backlog</a:t>
            </a:r>
            <a:r>
              <a:rPr sz="2400" spc="-25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spc="-5" dirty="0" smtClean="0">
                <a:latin typeface="Bookman Old Style" panose="02050604050505020204" pitchFamily="18" charset="0"/>
                <a:cs typeface="Times New Roman" panose="02020603050405020304"/>
              </a:rPr>
              <a:t>at</a:t>
            </a:r>
            <a:r>
              <a:rPr sz="2400" spc="-2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spc="-10" dirty="0">
                <a:latin typeface="Bookman Old Style" panose="02050604050505020204" pitchFamily="18" charset="0"/>
                <a:cs typeface="Times New Roman" panose="02020603050405020304"/>
              </a:rPr>
              <a:t>the</a:t>
            </a:r>
            <a:r>
              <a:rPr sz="2400" spc="-20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sz="2400" spc="-15" dirty="0">
                <a:latin typeface="Bookman Old Style" panose="02050604050505020204" pitchFamily="18" charset="0"/>
                <a:cs typeface="Times New Roman" panose="02020603050405020304"/>
              </a:rPr>
              <a:t>station.</a:t>
            </a:r>
            <a:endParaRPr sz="2400"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265"/>
              </a:spcBef>
            </a:pPr>
            <a:r>
              <a:rPr sz="15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5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15</a:t>
            </a:fld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GB" spc="-5" smtClean="0"/>
              <a:t>16</a:t>
            </a:fld>
            <a:endParaRPr lang="en-GB" spc="-5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1000" y="1295401"/>
          <a:ext cx="8534400" cy="4214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9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584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S/N</a:t>
                      </a: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Judicial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Officer</a:t>
                      </a:r>
                      <a:endParaRPr sz="2000" dirty="0"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  <a:p>
                      <a:pPr marL="3873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lang="en-US" sz="2000" b="1" dirty="0" smtClean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     </a:t>
                      </a:r>
                      <a:r>
                        <a:rPr sz="2000" b="1" dirty="0" smtClean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Backlog</a:t>
                      </a:r>
                      <a:r>
                        <a:rPr sz="2000" b="1" spc="-40" dirty="0" smtClean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Cases</a:t>
                      </a:r>
                      <a:endParaRPr sz="2000" dirty="0"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86">
                <a:tc>
                  <a:txBody>
                    <a:bodyPr/>
                    <a:lstStyle/>
                    <a:p>
                      <a:pPr marL="38100" algn="ctr">
                        <a:lnSpc>
                          <a:spcPts val="2335"/>
                        </a:lnSpc>
                      </a:pPr>
                      <a:endParaRPr lang="en-GB" sz="1800" b="1" dirty="0" smtClean="0">
                        <a:solidFill>
                          <a:srgbClr val="FFFFFF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100" algn="ctr">
                        <a:lnSpc>
                          <a:spcPts val="2335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lang="en-GB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Hon.</a:t>
                      </a:r>
                      <a:r>
                        <a:rPr lang="en-GB" sz="2000" b="1" spc="-20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Justice</a:t>
                      </a:r>
                      <a:r>
                        <a:rPr lang="en-GB" sz="2000" b="1" spc="-45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2000" b="1" spc="0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Lawrence Tweyanze</a:t>
                      </a:r>
                      <a:endParaRPr lang="en-GB" sz="200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lang="en-GB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50</a:t>
                      </a:r>
                      <a:endParaRPr sz="20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86">
                <a:tc>
                  <a:txBody>
                    <a:bodyPr/>
                    <a:lstStyle/>
                    <a:p>
                      <a:pPr marL="38100" algn="ctr">
                        <a:lnSpc>
                          <a:spcPts val="2335"/>
                        </a:lnSpc>
                      </a:pPr>
                      <a:endParaRPr lang="en-GB" sz="1800" dirty="0" smtClean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100" algn="ctr">
                        <a:lnSpc>
                          <a:spcPts val="2335"/>
                        </a:lnSpc>
                      </a:pP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Times New Roman" panose="02020603050405020304"/>
                        </a:rPr>
                        <a:t>Hon.</a:t>
                      </a:r>
                      <a:r>
                        <a:rPr kumimoji="0" lang="en-GB" sz="2000" b="1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Times New Roman" panose="02020603050405020304"/>
                        </a:rPr>
                        <a:t> </a:t>
                      </a:r>
                      <a:r>
                        <a:rPr kumimoji="0" lang="en-GB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Times New Roman" panose="02020603050405020304"/>
                        </a:rPr>
                        <a:t>Justice</a:t>
                      </a:r>
                      <a:r>
                        <a:rPr kumimoji="0" lang="en-GB" sz="2000" b="1" i="0" u="none" strike="noStrike" kern="0" cap="none" spc="-45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Times New Roman" panose="02020603050405020304"/>
                        </a:rPr>
                        <a:t> </a:t>
                      </a:r>
                      <a:r>
                        <a:rPr kumimoji="0" lang="en-GB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Times New Roman" panose="02020603050405020304"/>
                        </a:rPr>
                        <a:t>David S.L Makumbi</a:t>
                      </a:r>
                      <a:endParaRPr kumimoji="0" lang="en-GB" sz="20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 Antiqua" panose="02040602050305030304" pitchFamily="18" charset="0"/>
                        <a:ea typeface="+mn-ea"/>
                        <a:cs typeface="Times New Roman" panose="02020603050405020304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endParaRPr lang="en-GB" sz="200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1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lang="en-GB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03</a:t>
                      </a:r>
                      <a:endParaRPr sz="20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1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GB" sz="1800" dirty="0" smtClean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 dirty="0">
                        <a:solidFill>
                          <a:schemeClr val="bg1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Deputy</a:t>
                      </a:r>
                      <a:r>
                        <a:rPr lang="en-US" sz="2000" b="1" baseline="0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Registrar</a:t>
                      </a:r>
                      <a:endParaRPr lang="en-US" sz="200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7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lang="en-GB" sz="2000" b="1" dirty="0" smtClean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00</a:t>
                      </a:r>
                      <a:endParaRPr sz="20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1917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434">
                <a:tc>
                  <a:txBody>
                    <a:bodyPr/>
                    <a:lstStyle/>
                    <a:p>
                      <a:pPr marL="38100" algn="ctr">
                        <a:lnSpc>
                          <a:spcPts val="234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lang="en-US" sz="2000" b="1" dirty="0" smtClean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     </a:t>
                      </a:r>
                      <a:r>
                        <a:rPr sz="2000" b="1" dirty="0" smtClean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Total</a:t>
                      </a:r>
                      <a:endParaRPr sz="2000" dirty="0"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lang="en-GB" sz="2000" b="1" dirty="0" smtClean="0">
                          <a:solidFill>
                            <a:schemeClr val="bg1"/>
                          </a:solidFill>
                          <a:latin typeface="Book Antiqua" panose="02040602050305030304" pitchFamily="18" charset="0"/>
                          <a:cs typeface="Times New Roman" panose="02020603050405020304"/>
                        </a:rPr>
                        <a:t>53</a:t>
                      </a:r>
                      <a:endParaRPr sz="2000" b="1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  <a:cs typeface="Times New Roman" panose="02020603050405020304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499616" y="177495"/>
            <a:ext cx="615505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Bookman Old Style" panose="02050604050505020204" pitchFamily="18" charset="0"/>
                <a:cs typeface="Times New Roman" panose="02020603050405020304"/>
              </a:rPr>
              <a:t>BACKLOG STATUS</a:t>
            </a:r>
            <a:r>
              <a:rPr b="1" spc="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 panose="02020603050405020304"/>
              </a:rPr>
              <a:t>BEFORE</a:t>
            </a:r>
            <a:r>
              <a:rPr b="1" spc="-1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spc="-5" dirty="0">
                <a:latin typeface="Bookman Old Style" panose="02050604050505020204" pitchFamily="18" charset="0"/>
                <a:cs typeface="Times New Roman" panose="02020603050405020304"/>
              </a:rPr>
              <a:t>EACH JUDICIAL</a:t>
            </a:r>
            <a:r>
              <a:rPr b="1" spc="15" dirty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 panose="02020603050405020304"/>
              </a:rPr>
              <a:t>OFFICER</a:t>
            </a: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b="1" spc="-5" dirty="0" smtClean="0">
                <a:latin typeface="Bookman Old Style" panose="02050604050505020204" pitchFamily="18" charset="0"/>
                <a:cs typeface="Times New Roman" panose="02020603050405020304"/>
              </a:rPr>
              <a:t>A</a:t>
            </a:r>
            <a:r>
              <a:rPr lang="en-US" b="1" spc="-5" dirty="0" smtClean="0">
                <a:latin typeface="Bookman Old Style" panose="02050604050505020204" pitchFamily="18" charset="0"/>
                <a:cs typeface="Times New Roman" panose="02020603050405020304"/>
              </a:rPr>
              <a:t>S</a:t>
            </a:r>
            <a:r>
              <a:rPr b="1" spc="-20" dirty="0" smtClean="0">
                <a:latin typeface="Bookman Old Style" panose="02050604050505020204" pitchFamily="18" charset="0"/>
                <a:cs typeface="Times New Roman" panose="02020603050405020304"/>
              </a:rPr>
              <a:t> </a:t>
            </a:r>
            <a:r>
              <a:rPr lang="en-US" b="1" dirty="0" smtClean="0">
                <a:latin typeface="Bookman Old Style" panose="02050604050505020204" pitchFamily="18" charset="0"/>
                <a:cs typeface="Times New Roman" panose="02020603050405020304"/>
              </a:rPr>
              <a:t>AT </a:t>
            </a:r>
            <a:r>
              <a:rPr lang="en-GB" b="1" dirty="0" smtClean="0">
                <a:latin typeface="Bookman Old Style" panose="02050604050505020204" pitchFamily="18" charset="0"/>
                <a:cs typeface="Times New Roman" panose="02020603050405020304"/>
              </a:rPr>
              <a:t>30</a:t>
            </a:r>
            <a:r>
              <a:rPr lang="en-GB" b="1" baseline="30000" dirty="0" smtClean="0"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GB" b="1" dirty="0" smtClean="0">
                <a:latin typeface="Bookman Old Style" panose="02050604050505020204" pitchFamily="18" charset="0"/>
                <a:cs typeface="Times New Roman" panose="02020603050405020304"/>
              </a:rPr>
              <a:t> JUNE </a:t>
            </a:r>
            <a:r>
              <a:rPr lang="en-GB" b="1" spc="195" dirty="0" smtClean="0">
                <a:latin typeface="Bookman Old Style" panose="02050604050505020204" pitchFamily="18" charset="0"/>
                <a:cs typeface="Times New Roman" panose="02020603050405020304"/>
              </a:rPr>
              <a:t>2025</a:t>
            </a:r>
            <a:endParaRPr b="1"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17</a:t>
            </a:fld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024977" cy="848360"/>
          </a:xfrm>
        </p:spPr>
        <p:txBody>
          <a:bodyPr>
            <a:normAutofit/>
          </a:bodyPr>
          <a:lstStyle/>
          <a:p>
            <a:pPr lvl="0" algn="ctr"/>
            <a:r>
              <a:rPr lang="en-GB" sz="1800" dirty="0" smtClean="0">
                <a:latin typeface="Bookman Old Style" panose="02050604050505020204" pitchFamily="18" charset="0"/>
              </a:rPr>
              <a:t>BACKLOG DISTRIBUTION FOR THE 4</a:t>
            </a:r>
            <a:r>
              <a:rPr lang="en-GB" sz="1800" baseline="30000" dirty="0" smtClean="0">
                <a:latin typeface="Bookman Old Style" panose="02050604050505020204" pitchFamily="18" charset="0"/>
              </a:rPr>
              <a:t>TH</a:t>
            </a:r>
            <a:r>
              <a:rPr lang="en-GB" sz="1800" dirty="0" smtClean="0">
                <a:latin typeface="Bookman Old Style" panose="02050604050505020204" pitchFamily="18" charset="0"/>
              </a:rPr>
              <a:t>   QUARTER</a:t>
            </a:r>
            <a:endParaRPr lang="en-US" sz="1800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DED835C-16D9-B44E-AFAC-008CE890F602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457201"/>
          <a:ext cx="9220200" cy="512005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83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52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5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5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10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41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836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14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RESIDENT</a:t>
                      </a:r>
                      <a:r>
                        <a:rPr lang="en-US" sz="1400" b="1" baseline="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JUDGE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2023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2022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2021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2020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2019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2018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2017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2016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2015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 smtClean="0">
                          <a:effectLst/>
                          <a:latin typeface="Bookman Old Style" panose="02050604050505020204" pitchFamily="18" charset="0"/>
                        </a:rPr>
                        <a:t>2014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2013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2011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2010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Bookman Old Style" panose="02050604050505020204" pitchFamily="18" charset="0"/>
                        </a:rPr>
                        <a:t>Grand Total</a:t>
                      </a:r>
                      <a:endParaRPr lang="en-US" sz="105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CRIMINAL 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02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CIVIL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08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04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03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05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27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FAMILY 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LAND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06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04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04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20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TOTAL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06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09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06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03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50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Hon Justice David Makumbi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CRIMINAL 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CIVIL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FAMILY 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LAND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01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03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7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TOTAL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003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GRAND TOTAL</a:t>
                      </a:r>
                      <a:endParaRPr lang="en-US" sz="12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b="1" dirty="0" smtClean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53</a:t>
                      </a:r>
                      <a:endParaRPr lang="en-US" sz="1400" b="1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58669" marR="58669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384721"/>
          </a:xfrm>
        </p:spPr>
        <p:txBody>
          <a:bodyPr/>
          <a:lstStyle/>
          <a:p>
            <a:pPr algn="ctr"/>
            <a:r>
              <a:rPr lang="en-GB" dirty="0" smtClean="0">
                <a:latin typeface="Bookman Old Style" panose="02050604050505020204" pitchFamily="18" charset="0"/>
              </a:rPr>
              <a:t>BACKLOG DISTRIBUTION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250" y="1289050"/>
            <a:ext cx="7753984" cy="9898094"/>
          </a:xfrm>
        </p:spPr>
        <p:txBody>
          <a:bodyPr/>
          <a:lstStyle/>
          <a:p>
            <a:r>
              <a:rPr lang="en-GB" sz="2400" b="1" dirty="0" smtClean="0">
                <a:latin typeface="Bookman Old Style" panose="02050604050505020204" pitchFamily="18" charset="0"/>
              </a:rPr>
              <a:t>   Explanatory Notes</a:t>
            </a:r>
          </a:p>
          <a:p>
            <a:pPr marL="300355" marR="0" lvl="0" indent="-300355" algn="l" defTabSz="4006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400" i="1" kern="1200" dirty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 period 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of 3 Months, </a:t>
            </a:r>
            <a:r>
              <a:rPr lang="en-US" sz="2400" i="1" kern="1200" dirty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Kasese Circuit disposed of </a:t>
            </a:r>
            <a:r>
              <a:rPr lang="en-US" sz="2400" b="1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10 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cases  in the 4</a:t>
            </a:r>
            <a:r>
              <a:rPr lang="en-US" sz="2400" i="1" kern="1200" baseline="300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	Quarter out of </a:t>
            </a:r>
            <a:r>
              <a:rPr lang="en-US" sz="2400" b="1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63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total  backlog cases from the 3</a:t>
            </a:r>
            <a:r>
              <a:rPr lang="en-US" sz="2400" i="1" kern="1200" baseline="300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Quarter. </a:t>
            </a:r>
            <a:r>
              <a:rPr lang="en-US" sz="2400" i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There </a:t>
            </a:r>
            <a:r>
              <a:rPr lang="en-US" sz="2400" i="1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are </a:t>
            </a:r>
            <a:r>
              <a:rPr lang="en-US" sz="2400" b="1" i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sz="2400" i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backlog cases which are </a:t>
            </a:r>
            <a:r>
              <a:rPr lang="en-US" sz="2400" i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more </a:t>
            </a:r>
            <a:r>
              <a:rPr lang="en-US" sz="2400" i="1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than 10 years. All these cases are either on hearing or pending </a:t>
            </a:r>
            <a:r>
              <a:rPr lang="en-US" sz="2400" i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ruling/judgment.</a:t>
            </a:r>
          </a:p>
          <a:p>
            <a:pPr marL="300355" marR="0" lvl="0" indent="-300355" algn="l" defTabSz="4006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All backlog cases for both civil and land are also </a:t>
            </a:r>
            <a:r>
              <a:rPr lang="en-US" sz="2400" i="1" kern="1200" dirty="0" err="1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causelisted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 for a session that is commencing on 18</a:t>
            </a:r>
            <a:r>
              <a:rPr lang="en-US" sz="2400" i="1" kern="1200" baseline="300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August 2025 before Hon Justice Lawrence Tweyanze.</a:t>
            </a:r>
          </a:p>
          <a:p>
            <a:pPr marL="300355" marR="0" lvl="0" indent="-300355" algn="l" defTabSz="4006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Out of 53 cases, 3 cases are already fixed for Judgement before Hon Justice David S.L </a:t>
            </a:r>
            <a:r>
              <a:rPr lang="en-US" sz="2400" i="1" kern="1200" dirty="0" err="1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Makumbi</a:t>
            </a:r>
            <a:r>
              <a:rPr lang="en-US" sz="2400" i="1" kern="1200" dirty="0" smtClean="0">
                <a:solidFill>
                  <a:prstClr val="black"/>
                </a:solidFill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i="1" kern="1200" dirty="0">
              <a:solidFill>
                <a:prstClr val="black"/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00355" marR="0" lvl="0" indent="-300355" algn="l" defTabSz="4006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 smtClean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19</a:t>
            </a:fld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52400" y="271894"/>
            <a:ext cx="8209915" cy="8636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2455" algn="ctr">
              <a:lnSpc>
                <a:spcPct val="100000"/>
              </a:lnSpc>
              <a:spcBef>
                <a:spcPts val="95"/>
              </a:spcBef>
            </a:pPr>
            <a:r>
              <a:rPr lang="en-US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BACKLOG COMPARISON BETWEEN THE 4</a:t>
            </a:r>
            <a:r>
              <a:rPr lang="en-US" b="1" spc="-5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TH</a:t>
            </a:r>
            <a:r>
              <a:rPr lang="en-US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 AND 3</a:t>
            </a:r>
            <a:r>
              <a:rPr lang="en-US" b="1" spc="-5" baseline="30000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RD</a:t>
            </a:r>
            <a:r>
              <a:rPr lang="en-US" b="1" spc="-5" dirty="0" smtClean="0">
                <a:solidFill>
                  <a:srgbClr val="001F5F"/>
                </a:solidFill>
                <a:latin typeface="Bookman Old Style" panose="02050604050505020204" pitchFamily="18" charset="0"/>
                <a:cs typeface="Times New Roman" panose="02020603050405020304"/>
              </a:rPr>
              <a:t>   QUARTER</a:t>
            </a:r>
            <a:endParaRPr dirty="0">
              <a:latin typeface="Bookman Old Style" panose="02050604050505020204" pitchFamily="18" charset="0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 dirty="0">
              <a:latin typeface="Bookman Old Style" panose="02050604050505020204" pitchFamily="18" charset="0"/>
              <a:cs typeface="Times New Roman" panose="0202060305040502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" y="990600"/>
          <a:ext cx="8686801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7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525">
                        <a:lnSpc>
                          <a:spcPts val="2100"/>
                        </a:lnSpc>
                        <a:spcBef>
                          <a:spcPts val="1220"/>
                        </a:spcBef>
                      </a:pPr>
                      <a:r>
                        <a:rPr sz="1800" b="1" spc="-5" dirty="0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S/</a:t>
                      </a:r>
                      <a:r>
                        <a:rPr lang="en-US" sz="1800" b="1" spc="-5" dirty="0" smtClean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4541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C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A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TEGOR</a:t>
                      </a:r>
                      <a:r>
                        <a:rPr lang="en-GB" sz="14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Y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4541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lang="en-US" sz="1400" b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</a:t>
                      </a:r>
                      <a:r>
                        <a:rPr lang="en-US" sz="1400" b="1" baseline="0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Backlog 4</a:t>
                      </a:r>
                      <a:r>
                        <a:rPr lang="en-US" sz="1400" b="1" baseline="30000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th</a:t>
                      </a:r>
                      <a:r>
                        <a:rPr lang="en-US" sz="1400" b="1" baseline="0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Quarter FY 2024/2025</a:t>
                      </a:r>
                      <a:endParaRPr sz="1400" b="1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8288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38735" marR="32385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Case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Backlog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GB" sz="1400" b="1" spc="-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3</a:t>
                      </a:r>
                      <a:r>
                        <a:rPr lang="en-GB" sz="1400" b="1" spc="-5" baseline="3000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rd</a:t>
                      </a:r>
                      <a:r>
                        <a:rPr lang="en-GB" sz="1400" b="1" spc="-5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400" b="1" spc="-7" baseline="2300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400" b="1" spc="-427" baseline="23000" dirty="0" smtClean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Quarter FY 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2024/2025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65"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CIVIL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27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6985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28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37"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LAND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23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22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70"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16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14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FAMILY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52069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01</a:t>
                      </a:r>
                      <a:endParaRPr lang="en-US" sz="1400" b="1" dirty="0" smtClean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977"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b="1" spc="-5" dirty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CRIMINAL</a:t>
                      </a:r>
                      <a:endParaRPr sz="1400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02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12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8"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lang="en-US" sz="1600" dirty="0" smtClean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lang="en-US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EXECUTION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00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3779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GB" sz="1400" b="1" dirty="0" smtClean="0"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00</a:t>
                      </a:r>
                      <a:endParaRPr sz="1400" b="1" dirty="0"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4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b="1" spc="-5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TOTAL</a:t>
                      </a:r>
                      <a:endParaRPr sz="1400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53</a:t>
                      </a:r>
                      <a:endParaRPr sz="14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5270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35"/>
                        </a:lnSpc>
                      </a:pPr>
                      <a:r>
                        <a:rPr lang="en-GB" sz="1400" b="1" dirty="0" smtClean="0">
                          <a:solidFill>
                            <a:schemeClr val="bg1"/>
                          </a:solidFill>
                          <a:latin typeface="Bookman Old Style" panose="02050604050505020204" pitchFamily="18" charset="0"/>
                          <a:cs typeface="Times New Roman" panose="02020603050405020304"/>
                        </a:rPr>
                        <a:t>63</a:t>
                      </a:r>
                      <a:endParaRPr sz="14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20</a:t>
            </a:fld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GB" spc="-5" smtClean="0"/>
              <a:t>21</a:t>
            </a:fld>
            <a:endParaRPr lang="en-GB" spc="-5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IMPLEMENTATION OF RESOLUTIONS AND RECOMMENDATIONS FROM THE PREVIOUS MEETING 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5528"/>
            <a:ext cx="8915400" cy="6173471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Timely </a:t>
            </a: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writing and delivery of judgments and rulings by </a:t>
            </a: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both </a:t>
            </a: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 Deputy Registrar and the Resident Judge</a:t>
            </a: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400" dirty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Weekly </a:t>
            </a: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tracking of </a:t>
            </a: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all </a:t>
            </a: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cases pending </a:t>
            </a: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judgments.</a:t>
            </a:r>
          </a:p>
          <a:p>
            <a:pPr algn="just"/>
            <a:endParaRPr lang="en-US" sz="2400" dirty="0" smtClean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Most decisions are delivered online and where certified copies are needed, the same are </a:t>
            </a: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availed to the parties on the same </a:t>
            </a: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day.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9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  <a:sym typeface="Book Antiqua" panose="02040602050305030304"/>
              </a:rPr>
              <a:t> </a:t>
            </a:r>
            <a:r>
              <a:rPr lang="en-GB" sz="2400" dirty="0" smtClean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Organizing </a:t>
            </a:r>
            <a:r>
              <a:rPr lang="en-GB" sz="2400" dirty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awareness meetings which lay out the proper mechanism for checks and balances in the administration of justice. As earlier stated, we had a stakeholders </a:t>
            </a:r>
            <a:r>
              <a:rPr lang="en-GB" sz="2400" dirty="0" smtClean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meeting.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900"/>
              <a:buFont typeface="Arial" panose="020B0604020202020204" pitchFamily="34" charset="0"/>
              <a:buChar char="•"/>
              <a:defRPr/>
            </a:pPr>
            <a:r>
              <a:rPr lang="en-GB" sz="2400" dirty="0" smtClean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Continuous </a:t>
            </a:r>
            <a:r>
              <a:rPr lang="en-GB" sz="2400" dirty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maintenance of an open door policy to stakeholders and the </a:t>
            </a:r>
            <a:r>
              <a:rPr lang="en-GB" sz="2400" dirty="0" smtClean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public.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8" y="221430"/>
            <a:ext cx="8024977" cy="84836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IMPLEMENTATION OF RESOLUTIONS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… CONT’D </a:t>
            </a:r>
            <a:endParaRPr lang="en-US" sz="2400" b="1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5400" cy="5181600"/>
          </a:xfrm>
        </p:spPr>
        <p:txBody>
          <a:bodyPr>
            <a:normAutofit fontScale="250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Weekly </a:t>
            </a: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reports made for 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completed </a:t>
            </a: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cases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endParaRPr lang="en-US" sz="9600" dirty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Weekly 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cause </a:t>
            </a: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isting </a:t>
            </a: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cases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9600" dirty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Limited adjournment of cases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endParaRPr lang="en-US" sz="9600" dirty="0" smtClean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96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Consistent supervision of staff involved in entry of statistical data into </a:t>
            </a:r>
            <a:r>
              <a:rPr lang="en-US" sz="96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CCAS.</a:t>
            </a:r>
          </a:p>
          <a:p>
            <a:pPr algn="just"/>
            <a:endParaRPr lang="en-US" sz="9600" dirty="0" smtClean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9600" dirty="0">
                <a:solidFill>
                  <a:prstClr val="black"/>
                </a:solidFill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Simultaneous handling of both old and new </a:t>
            </a:r>
            <a:r>
              <a:rPr lang="en-US" sz="9600" dirty="0" smtClean="0">
                <a:solidFill>
                  <a:prstClr val="black"/>
                </a:solidFill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cases and hearing both Civil and Criminal cases on the same day.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900"/>
              <a:buFont typeface="Arial" panose="020B0604020202020204" pitchFamily="34" charset="0"/>
              <a:buChar char="•"/>
              <a:defRPr/>
            </a:pPr>
            <a:r>
              <a:rPr lang="en-GB" sz="9600" dirty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Coordination with concerned stakeholders such the ODPP - Kasese, Justice </a:t>
            </a:r>
            <a:r>
              <a:rPr lang="en-GB" sz="9600" dirty="0" err="1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Centers</a:t>
            </a:r>
            <a:r>
              <a:rPr lang="en-GB" sz="9600" dirty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 Uganda - Kasese, the Police and Prisons,  in order to strengthen administration of justice</a:t>
            </a:r>
            <a:r>
              <a:rPr lang="en-GB" sz="9600" dirty="0" smtClean="0">
                <a:solidFill>
                  <a:prstClr val="black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.</a:t>
            </a:r>
          </a:p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4200" dirty="0" smtClean="0">
              <a:solidFill>
                <a:prstClr val="black"/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sz="4200" dirty="0">
              <a:solidFill>
                <a:prstClr val="black"/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42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526854" y="6387004"/>
            <a:ext cx="2103120" cy="342900"/>
          </a:xfrm>
        </p:spPr>
        <p:txBody>
          <a:bodyPr/>
          <a:lstStyle/>
          <a:p>
            <a:fld id="{7FAEF1EC-E466-42AB-92E5-E5D13365690D}" type="datetime5">
              <a:rPr lang="en-US" smtClean="0"/>
              <a:t>4-Aug-25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250" y="228600"/>
            <a:ext cx="8024977" cy="84836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IMPLEMENTATION OF RESOLUTIONS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… CONT’D </a:t>
            </a: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50" y="609600"/>
            <a:ext cx="7753984" cy="4843779"/>
          </a:xfrm>
        </p:spPr>
        <p:txBody>
          <a:bodyPr>
            <a:noAutofit/>
          </a:bodyPr>
          <a:lstStyle/>
          <a:p>
            <a:pPr algn="just"/>
            <a:endParaRPr lang="en-US" sz="2400" dirty="0" smtClean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Routine data integrity checks on CCAS and appropriate supervision. </a:t>
            </a:r>
          </a:p>
          <a:p>
            <a:pPr algn="just"/>
            <a:endParaRPr lang="en-GB" sz="2400" dirty="0">
              <a:latin typeface="Book Antiqua" panose="0204060205030503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Book Antiqua" panose="02040602050305030304" pitchFamily="18" charset="0"/>
              </a:rPr>
              <a:t>Some training and capacity building for court staff on data management was internally conducted.</a:t>
            </a:r>
          </a:p>
          <a:p>
            <a:pPr algn="just"/>
            <a:endParaRPr lang="en-US" sz="2400" dirty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Regular Staff and Bar-Bench meetings held to enhance efficiency and gather feedback on service delivery.</a:t>
            </a:r>
          </a:p>
          <a:p>
            <a:pPr algn="just"/>
            <a:endParaRPr lang="en-GB" sz="2400" dirty="0">
              <a:latin typeface="Book Antiqua" panose="0204060205030503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Book Antiqua" panose="02040602050305030304" pitchFamily="18" charset="0"/>
              </a:rPr>
              <a:t>We have continued to sensitize and encourage court users to embrace </a:t>
            </a:r>
            <a:r>
              <a:rPr lang="en-GB" sz="2400" dirty="0" smtClean="0">
                <a:latin typeface="Book Antiqua" panose="02040602050305030304" pitchFamily="18" charset="0"/>
              </a:rPr>
              <a:t>ADR.</a:t>
            </a:r>
            <a:endParaRPr lang="en-US" sz="2400" dirty="0">
              <a:latin typeface="Book Antiqua" panose="020406020503050303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fld id="{7FAEF1EC-E466-42AB-92E5-E5D13365690D}" type="datetime5">
              <a:rPr lang="en-US" smtClean="0"/>
              <a:t>4-Aug-25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04291"/>
            <a:ext cx="8024977" cy="84836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BEST PRACTICES</a:t>
            </a: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4814"/>
            <a:ext cx="7886700" cy="4842149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Monthly and impromptu staff meetings.</a:t>
            </a:r>
          </a:p>
          <a:p>
            <a:pPr algn="just"/>
            <a:endParaRPr lang="en-GB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Quarterly meetings for all judicial officers within the Circuit.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Open Door Policy.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File Movement Books for all categories of files.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Improved record keeping and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management.</a:t>
            </a:r>
          </a:p>
          <a:p>
            <a:pPr algn="just"/>
            <a:endParaRPr lang="en-US" sz="24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Prompt </a:t>
            </a: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handling of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complaints and provision of feedback.</a:t>
            </a: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3785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BEST PRACTICES</a:t>
            </a:r>
            <a:r>
              <a:rPr lang="en-US" sz="28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… </a:t>
            </a:r>
            <a:r>
              <a:rPr lang="en-US" sz="28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CONT’D</a:t>
            </a: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7062"/>
            <a:ext cx="7886700" cy="4589901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 smtClean="0"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Weekly </a:t>
            </a: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and monthly reports by the court and by each staff.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Constant weeding out of non-starter files.</a:t>
            </a:r>
          </a:p>
          <a:p>
            <a:pPr algn="just"/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Financial management and accountability: the court has a finance committee, chaired by the Judge, with the D/R,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OS and Cashier.</a:t>
            </a:r>
          </a:p>
          <a:p>
            <a:pPr algn="just"/>
            <a:endParaRPr lang="en-US" sz="24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dirty="0">
                <a:solidFill>
                  <a:schemeClr val="dk1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Regular monthly inspections and supervisions of the Courts in the </a:t>
            </a:r>
            <a:r>
              <a:rPr lang="en-GB" sz="2400" dirty="0" smtClean="0">
                <a:solidFill>
                  <a:schemeClr val="dk1"/>
                </a:solidFill>
                <a:latin typeface="Book Antiqua" panose="020406020503050303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jurisdiction.</a:t>
            </a:r>
            <a:endParaRPr lang="en-GB" sz="2400" dirty="0">
              <a:solidFill>
                <a:schemeClr val="dk1"/>
              </a:solidFill>
              <a:latin typeface="Book Antiqua" panose="02040602050305030304" pitchFamily="18" charset="0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CHALLENGES</a:t>
            </a: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9977"/>
            <a:ext cx="7886700" cy="472698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 funds provided as Operational Funds are still insufficient to cater for all essential needs at the station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Inadequate office space and furniture for staff, advocates and litigants at the court. </a:t>
            </a:r>
            <a:endParaRPr lang="en-US" sz="24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 Antiqua" panose="02040602050305030304"/>
              <a:buChar char="•"/>
            </a:pPr>
            <a:r>
              <a:rPr lang="en-GB" sz="2400" dirty="0">
                <a:latin typeface="Bookman Old Style" panose="020506040505050202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Inadequate Office space for the different Court staff since Kasese High Court is sharing premises with Kasese Chief Magistrates Court. </a:t>
            </a:r>
          </a:p>
          <a:p>
            <a:pPr marL="228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GB" sz="2400" dirty="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b="1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fld id="{7FAEF1EC-E466-42AB-92E5-E5D13365690D}" type="datetime5">
              <a:rPr lang="en-US" smtClean="0"/>
              <a:t>4-Aug-25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0977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CHALLENGES … CONT’D</a:t>
            </a:r>
            <a:endParaRPr lang="en-US" sz="3000" b="1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7886700" cy="4426540"/>
          </a:xfrm>
        </p:spPr>
        <p:txBody>
          <a:bodyPr>
            <a:normAutofit/>
          </a:bodyPr>
          <a:lstStyle/>
          <a:p>
            <a:pPr algn="just"/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Inadequate number of staff: The court needs a Transcriber (1), a Data Entry Clerk (1) and a </a:t>
            </a:r>
            <a:r>
              <a:rPr lang="en-US" sz="20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Records Officer </a:t>
            </a:r>
            <a:r>
              <a:rPr lang="en-US" sz="20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(1</a:t>
            </a:r>
            <a:r>
              <a:rPr lang="en-US" sz="20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228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GB" sz="2400" dirty="0">
              <a:latin typeface="Bookman Old Style" panose="02050604050505020204" pitchFamily="18" charset="0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k Antiqua" panose="02040602050305030304"/>
              <a:buChar char="•"/>
            </a:pPr>
            <a:r>
              <a:rPr lang="en-GB" sz="2400" dirty="0">
                <a:latin typeface="Bookman Old Style" panose="02050604050505020204" pitchFamily="18" charset="0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Power outages that interrupt the business of Court. Whereas the premises have solar, the same is not strong enough to power the electronic equipment used. There is a need for upgrading the said solar.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fld id="{7FAEF1EC-E466-42AB-92E5-E5D13365690D}" type="datetime5">
              <a:rPr lang="en-US" smtClean="0"/>
              <a:t>4-Aug-25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000" b="1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STRATEGIES FOR PERFORMANCE ENHANCEMENT</a:t>
            </a:r>
            <a:endParaRPr lang="en-US" sz="3000" b="1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7281"/>
            <a:ext cx="7886700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endParaRPr lang="en-US" sz="20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Continuous weeding out of cases; with or without notice.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Regular cleaning of CCAS.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Case backlog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sessions and daily hearing of Criminal cases.</a:t>
            </a:r>
            <a:endParaRPr lang="en-US" sz="24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Daily hearing of cases.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Setting aside some days for writing rulings and judgments.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Holding of regular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stakeholders’, Court users’ </a:t>
            </a: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400" dirty="0" smtClean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Bar- Bench </a:t>
            </a: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meetings.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Improved communication with all stakeholders.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Prompt and effective handling of complaints.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 smtClean="0">
              <a:latin typeface="Bookman Old Style" panose="0205060405050502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fld id="{7FAEF1EC-E466-42AB-92E5-E5D13365690D}" type="datetime5">
              <a:rPr lang="en-US" smtClean="0"/>
              <a:t>4-Aug-25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0E1D643-3314-4C29-BF62-5CAC4EDEA835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7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615553"/>
          </a:xfrm>
        </p:spPr>
        <p:txBody>
          <a:bodyPr/>
          <a:lstStyle/>
          <a:p>
            <a:pPr algn="ctr"/>
            <a:r>
              <a:rPr lang="en-US" sz="2000" dirty="0" smtClean="0">
                <a:latin typeface="Bookman Old Style" panose="02050604050505020204" pitchFamily="18" charset="0"/>
              </a:rPr>
              <a:t>WORK PLAN FOR THE FOURTH QUARTER</a:t>
            </a:r>
            <a:r>
              <a:rPr lang="en-US" sz="2000" dirty="0">
                <a:latin typeface="Bookman Old Style" panose="02050604050505020204" pitchFamily="18" charset="0"/>
              </a:rPr>
              <a:t/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US" sz="2000" dirty="0" smtClean="0">
                <a:latin typeface="Bookman Old Style" panose="02050604050505020204" pitchFamily="18" charset="0"/>
              </a:rPr>
              <a:t>JULY- SEPTEMBER 2025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250" y="1289050"/>
            <a:ext cx="7753984" cy="276999"/>
          </a:xfrm>
        </p:spPr>
        <p:txBody>
          <a:bodyPr/>
          <a:lstStyle/>
          <a:p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30</a:t>
            </a:fld>
            <a:endParaRPr lang="en-US" spc="-5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14400"/>
          <a:ext cx="8715156" cy="535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6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238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SN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PLANNED ACTIVITY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VENUE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NO.OF CASES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COST (UGX)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ACTION</a:t>
                      </a:r>
                      <a:r>
                        <a:rPr lang="en-GB" sz="1400" b="1" baseline="0" dirty="0" smtClean="0">
                          <a:latin typeface="Bookman Old Style" panose="02050604050505020204" pitchFamily="18" charset="0"/>
                        </a:rPr>
                        <a:t> OFFICER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819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1.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CRIMINAL SESSIONS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1</a:t>
                      </a:r>
                      <a:r>
                        <a:rPr lang="en-US" sz="1400" b="1" baseline="0" dirty="0" smtClean="0">
                          <a:latin typeface="Bookman Old Style" panose="02050604050505020204" pitchFamily="18" charset="0"/>
                        </a:rPr>
                        <a:t> CRIMINAL SESSION AT KASESE  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40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UGX 36,750,000/=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RESIDENT JUDGE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0819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2.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PLEA BARGAIN SESSION</a:t>
                      </a:r>
                    </a:p>
                    <a:p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 smtClean="0">
                          <a:latin typeface="Bookman Old Style" panose="02050604050505020204" pitchFamily="18" charset="0"/>
                        </a:rPr>
                        <a:t>SEPTEMBER 2025</a:t>
                      </a:r>
                    </a:p>
                    <a:p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40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UGX 25,000,000/=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RESIDENT JUDGE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924">
                <a:tc>
                  <a:txBody>
                    <a:bodyPr/>
                    <a:lstStyle/>
                    <a:p>
                      <a:r>
                        <a:rPr lang="en-GB" b="1" dirty="0" smtClean="0">
                          <a:latin typeface="Bookman Old Style" panose="02050604050505020204" pitchFamily="18" charset="0"/>
                        </a:rPr>
                        <a:t>3.</a:t>
                      </a:r>
                      <a:r>
                        <a:rPr lang="en-GB" dirty="0" smtClean="0">
                          <a:latin typeface="Bookman Old Style" panose="02050604050505020204" pitchFamily="18" charset="0"/>
                        </a:rPr>
                        <a:t> </a:t>
                      </a:r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INSPECTION OF TWO COURTS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SEPTEMBER 2025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UGX 7,500,000/=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JUDGE &amp; DEPUTY REGISTRAR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924">
                <a:tc>
                  <a:txBody>
                    <a:bodyPr/>
                    <a:lstStyle/>
                    <a:p>
                      <a:endParaRPr lang="en-US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GB" sz="1400" b="1" dirty="0" smtClean="0">
                        <a:latin typeface="Bookman Old Style" panose="02050604050505020204" pitchFamily="18" charset="0"/>
                      </a:endParaRPr>
                    </a:p>
                    <a:p>
                      <a:pPr algn="just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  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GB" sz="1400" b="1" dirty="0" smtClean="0">
                        <a:latin typeface="Bookman Old Style" panose="02050604050505020204" pitchFamily="18" charset="0"/>
                      </a:endParaRPr>
                    </a:p>
                    <a:p>
                      <a:pPr algn="just"/>
                      <a:r>
                        <a:rPr lang="en-GB" sz="1400" b="1" dirty="0" smtClean="0">
                          <a:latin typeface="Bookman Old Style" panose="02050604050505020204" pitchFamily="18" charset="0"/>
                        </a:rPr>
                        <a:t>69,250,000=</a:t>
                      </a:r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400" b="1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603250" y="1289050"/>
          <a:ext cx="8124285" cy="348498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1118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5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0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No.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Activity</a:t>
                      </a:r>
                      <a:endParaRPr lang="en-US" sz="2000" b="1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Frequency</a:t>
                      </a:r>
                      <a:endParaRPr lang="en-US" sz="2000" b="1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No. of cases </a:t>
                      </a:r>
                      <a:endParaRPr lang="en-US" sz="2000" b="1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Total Costs</a:t>
                      </a:r>
                      <a:endParaRPr lang="en-US" sz="2000" b="1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4.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Criminal  Session</a:t>
                      </a:r>
                      <a:r>
                        <a:rPr lang="en-US" sz="2000" baseline="0" dirty="0" smtClean="0">
                          <a:effectLst/>
                          <a:latin typeface="Arial Narrow" panose="020B0606020202030204" pitchFamily="34" charset="0"/>
                        </a:rPr>
                        <a:t> funds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 smtClean="0">
                          <a:effectLst/>
                          <a:latin typeface="Arial Narrow" panose="020B060602020203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36,750,000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5.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aseline="0" dirty="0" smtClean="0">
                          <a:effectLst/>
                          <a:latin typeface="Arial Narrow" panose="020B060602020203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Court Operations and Staff Welfare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 smtClean="0">
                          <a:effectLst/>
                          <a:latin typeface="Arial Narrow" panose="020B060602020203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 smtClean="0">
                          <a:effectLst/>
                          <a:latin typeface="Arial Narrow" panose="020B060602020203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41,400,000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994"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 smtClean="0">
                          <a:effectLst/>
                          <a:latin typeface="Arial Narrow" panose="020B0606020202030204" pitchFamily="34" charset="0"/>
                        </a:rPr>
                        <a:t>6.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7.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RCC 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Meeting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Quarterly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5,650,000/=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Judge Locus funds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Quarterly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smtClean="0"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10,560,000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lang="en-GB" sz="2000" dirty="0" smtClean="0">
                          <a:latin typeface="Arial Narrow" panose="020B0606020202030204" pitchFamily="34" charset="0"/>
                          <a:cs typeface="Calibri" panose="020F0502020204030204"/>
                        </a:rPr>
                        <a:t>Registrar</a:t>
                      </a:r>
                      <a:r>
                        <a:rPr lang="en-GB" sz="2000" baseline="0" dirty="0" smtClean="0">
                          <a:latin typeface="Arial Narrow" panose="020B0606020202030204" pitchFamily="34" charset="0"/>
                          <a:cs typeface="Calibri" panose="020F0502020204030204"/>
                        </a:rPr>
                        <a:t> Locus funds</a:t>
                      </a:r>
                      <a:endParaRPr lang="en-US" sz="2000" dirty="0">
                        <a:latin typeface="Arial Narrow" panose="020B0606020202030204" pitchFamily="34" charset="0"/>
                        <a:cs typeface="Calibri" panose="020F0502020204030204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L="68580" marR="426085" indent="514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lang="en-GB" sz="2000" spc="-5" baseline="0" dirty="0" smtClean="0">
                          <a:latin typeface="Arial Narrow" panose="020B0606020202030204" pitchFamily="34" charset="0"/>
                          <a:cs typeface="Calibri" panose="020F0502020204030204"/>
                        </a:rPr>
                        <a:t>Quarterly </a:t>
                      </a:r>
                      <a:endParaRPr sz="2000" dirty="0">
                        <a:latin typeface="Arial Narrow" panose="020B0606020202030204" pitchFamily="34" charset="0"/>
                        <a:cs typeface="Calibri" panose="020F0502020204030204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 smtClean="0">
                          <a:effectLst/>
                          <a:latin typeface="Arial Narrow" panose="020B060602020203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   3,550,000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Grand Total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u="sng" baseline="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Arial Narrow" panose="020B0606020202030204" pitchFamily="34" charset="0"/>
                        </a:rPr>
                        <a:t>97,910,000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/=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1480" marR="614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>
          <a:xfrm>
            <a:off x="457200" y="6378575"/>
            <a:ext cx="2103438" cy="276999"/>
          </a:xfrm>
        </p:spPr>
        <p:txBody>
          <a:bodyPr/>
          <a:lstStyle/>
          <a:p>
            <a:r>
              <a:rPr lang="en-US" dirty="0" smtClean="0"/>
              <a:t>28 July 2025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>
          <a:xfrm>
            <a:off x="7861300" y="6465888"/>
            <a:ext cx="592138" cy="403225"/>
          </a:xfrm>
        </p:spPr>
        <p:txBody>
          <a:bodyPr/>
          <a:lstStyle/>
          <a:p>
            <a:fld id="{90E1D643-3314-4C29-BF62-5CAC4EDEA835}" type="slidenum">
              <a:rPr lang="en-US" smtClean="0"/>
              <a:t>31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729904"/>
            <a:ext cx="9144000" cy="124485"/>
            <a:chOff x="0" y="6729904"/>
            <a:chExt cx="9144000" cy="124485"/>
          </a:xfrm>
        </p:grpSpPr>
        <p:sp>
          <p:nvSpPr>
            <p:cNvPr id="8" name="Text Box 1"/>
            <p:cNvSpPr txBox="1"/>
            <p:nvPr/>
          </p:nvSpPr>
          <p:spPr>
            <a:xfrm>
              <a:off x="0" y="6804383"/>
              <a:ext cx="9144000" cy="50006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9" name="Text Box 4"/>
            <p:cNvSpPr txBox="1"/>
            <p:nvPr/>
          </p:nvSpPr>
          <p:spPr>
            <a:xfrm flipV="1">
              <a:off x="0" y="6729904"/>
              <a:ext cx="9144000" cy="34289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68580" tIns="34290" rIns="68580" bIns="3429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825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38903"/>
            <a:ext cx="8024977" cy="384721"/>
          </a:xfrm>
        </p:spPr>
        <p:txBody>
          <a:bodyPr/>
          <a:lstStyle/>
          <a:p>
            <a:pPr algn="ctr"/>
            <a:r>
              <a:rPr lang="en-GB" dirty="0" smtClean="0"/>
              <a:t>Kasese Bar Bench meeting held at Kasese High Court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32</a:t>
            </a:fld>
            <a:endParaRPr lang="en-US"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624"/>
            <a:ext cx="8991600" cy="5472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r>
              <a:rPr lang="en-US" dirty="0" smtClean="0"/>
              <a:t>Sensitization </a:t>
            </a:r>
            <a:r>
              <a:rPr lang="en-US" dirty="0"/>
              <a:t>Team </a:t>
            </a:r>
            <a:r>
              <a:rPr lang="en-US" dirty="0" smtClean="0"/>
              <a:t>at </a:t>
            </a:r>
            <a:r>
              <a:rPr lang="en-US" dirty="0" err="1"/>
              <a:t>Mubuku</a:t>
            </a:r>
            <a:r>
              <a:rPr lang="en-US" dirty="0"/>
              <a:t>  </a:t>
            </a:r>
            <a:r>
              <a:rPr lang="en-US" dirty="0" smtClean="0"/>
              <a:t>Prison led by the Resident Judge Kasese High Court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289050"/>
            <a:ext cx="8281034" cy="4502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33</a:t>
            </a:fld>
            <a:endParaRPr lang="en-US"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1707"/>
            <a:ext cx="9144000" cy="512809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r>
              <a:rPr lang="en-US" dirty="0" smtClean="0"/>
              <a:t>Sensitization and Interaction with inmates at </a:t>
            </a:r>
            <a:r>
              <a:rPr lang="en-US" dirty="0" err="1" smtClean="0"/>
              <a:t>Mubuku</a:t>
            </a:r>
            <a:r>
              <a:rPr lang="en-US" dirty="0" smtClean="0"/>
              <a:t>  Prison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34</a:t>
            </a:fld>
            <a:endParaRPr lang="en-US" spc="-5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1"/>
            <a:ext cx="9144000" cy="464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769441"/>
          </a:xfrm>
        </p:spPr>
        <p:txBody>
          <a:bodyPr/>
          <a:lstStyle/>
          <a:p>
            <a:r>
              <a:rPr lang="en-GB" dirty="0" smtClean="0"/>
              <a:t>Resident Judge inspecting guard of </a:t>
            </a:r>
            <a:r>
              <a:rPr lang="en-GB" dirty="0" err="1" smtClean="0"/>
              <a:t>honor</a:t>
            </a:r>
            <a:r>
              <a:rPr lang="en-GB" dirty="0" smtClean="0"/>
              <a:t> at the opening of the criminal session at Kasese High Court.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35</a:t>
            </a:fld>
            <a:endParaRPr lang="en-US"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9144000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384721"/>
          </a:xfrm>
        </p:spPr>
        <p:txBody>
          <a:bodyPr/>
          <a:lstStyle/>
          <a:p>
            <a:pPr algn="ctr"/>
            <a:r>
              <a:rPr lang="en-GB" dirty="0" smtClean="0"/>
              <a:t>Closure of the session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930"/>
              </a:lnSpc>
            </a:pPr>
            <a:fld id="{81D60167-4931-47E6-BA6A-407CBD079E47}" type="slidenum">
              <a:rPr lang="en-US" spc="-5" smtClean="0"/>
              <a:t>36</a:t>
            </a:fld>
            <a:endParaRPr lang="en-US"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" y="685800"/>
            <a:ext cx="912248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9511" y="217169"/>
            <a:ext cx="8024977" cy="384721"/>
          </a:xfrm>
        </p:spPr>
        <p:txBody>
          <a:bodyPr/>
          <a:lstStyle/>
          <a:p>
            <a:pPr algn="ctr"/>
            <a:r>
              <a:rPr lang="en-US" dirty="0" smtClean="0"/>
              <a:t>RCC Meeting conducted at Kasese High Court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81D60167-4931-47E6-BA6A-407CBD079E47}" type="slidenum">
              <a:rPr lang="en-US" smtClean="0"/>
              <a:t>37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90"/>
            <a:ext cx="9144000" cy="4960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52519"/>
            <a:ext cx="7543800" cy="1088068"/>
          </a:xfrm>
        </p:spPr>
        <p:txBody>
          <a:bodyPr/>
          <a:lstStyle/>
          <a:p>
            <a:pPr algn="ctr"/>
            <a:r>
              <a:rPr lang="en-GB" dirty="0">
                <a:latin typeface="Bookman Old Style" panose="02050604050505020204" pitchFamily="18" charset="0"/>
              </a:rP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76" y="2380917"/>
            <a:ext cx="8228649" cy="37457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b="1" dirty="0" smtClean="0">
                <a:latin typeface="Bookman Old Style" panose="02050604050505020204" pitchFamily="18" charset="0"/>
              </a:rPr>
              <a:t>THANK </a:t>
            </a:r>
            <a:r>
              <a:rPr lang="en-GB" sz="3600" b="1" dirty="0">
                <a:latin typeface="Bookman Old Style" panose="02050604050505020204" pitchFamily="18" charset="0"/>
              </a:rPr>
              <a:t>YOU FOR LISTENING </a:t>
            </a:r>
          </a:p>
        </p:txBody>
      </p:sp>
      <p:sp>
        <p:nvSpPr>
          <p:cNvPr id="4" name="Text Box 1"/>
          <p:cNvSpPr txBox="1"/>
          <p:nvPr/>
        </p:nvSpPr>
        <p:spPr>
          <a:xfrm>
            <a:off x="0" y="1367948"/>
            <a:ext cx="9144000" cy="50006"/>
          </a:xfrm>
          <a:prstGeom prst="rect">
            <a:avLst/>
          </a:prstGeom>
          <a:solidFill>
            <a:srgbClr val="7030A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825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Text Box 1"/>
          <p:cNvSpPr txBox="1"/>
          <p:nvPr/>
        </p:nvSpPr>
        <p:spPr>
          <a:xfrm>
            <a:off x="0" y="6603206"/>
            <a:ext cx="9144000" cy="233365"/>
          </a:xfrm>
          <a:prstGeom prst="rect">
            <a:avLst/>
          </a:prstGeom>
          <a:solidFill>
            <a:srgbClr val="7030A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825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 Box 1"/>
          <p:cNvSpPr txBox="1"/>
          <p:nvPr/>
        </p:nvSpPr>
        <p:spPr>
          <a:xfrm>
            <a:off x="0" y="6462876"/>
            <a:ext cx="9144000" cy="50006"/>
          </a:xfrm>
          <a:prstGeom prst="rect">
            <a:avLst/>
          </a:prstGeom>
          <a:solidFill>
            <a:srgbClr val="7030A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825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6*483"/>
  <p:tag name="TABLE_ENDDRAG_RECT" val="0*48*696*4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1844</Words>
  <Application>Microsoft Office PowerPoint</Application>
  <PresentationFormat>On-screen Show (4:3)</PresentationFormat>
  <Paragraphs>851</Paragraphs>
  <Slides>38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SimSun</vt:lpstr>
      <vt:lpstr>Arial</vt:lpstr>
      <vt:lpstr>Arial MT</vt:lpstr>
      <vt:lpstr>Arial Narrow</vt:lpstr>
      <vt:lpstr>Book Antiqua</vt:lpstr>
      <vt:lpstr>Bookman Old Style</vt:lpstr>
      <vt:lpstr>Calibri</vt:lpstr>
      <vt:lpstr>Tahoma</vt:lpstr>
      <vt:lpstr>Times New Roman</vt:lpstr>
      <vt:lpstr>Office Theme</vt:lpstr>
      <vt:lpstr>THE HIGH COURT OF UGANDA  AT KASESE  QUARTERLY PERFORMANCE REPORT  FOURTH QUARTER FY 2024/2025 1ST APRIL –  30TH JUNE 2025  HON. JUSTICE LAWRENCE TWEYANZE  RESIDENT JUDGE  </vt:lpstr>
      <vt:lpstr>INTRODUCTION</vt:lpstr>
      <vt:lpstr>PowerPoint Presentation</vt:lpstr>
      <vt:lpstr>OPERATIONAL AND SESSION FUNDS RECEIVED BY KASESE  HIGH COURT CIRCUIT IN THE 4TH  QUARTER FY 2024/2025</vt:lpstr>
      <vt:lpstr>PowerPoint Presentation</vt:lpstr>
      <vt:lpstr>PowerPoint Presentation</vt:lpstr>
      <vt:lpstr>SUMMARY OF PEFORMANCE FOR THE 4TH  QUARTER  </vt:lpstr>
      <vt:lpstr>PowerPoint Presentation</vt:lpstr>
      <vt:lpstr>PERFORMANCE PER JUDICIAL OFFICER DURING THE  4TH QUARTER </vt:lpstr>
      <vt:lpstr>BAR CHART INDICATING WORKLOAD AND PERFOMANCE PER JUDICIAL OFFICER</vt:lpstr>
      <vt:lpstr>NATURE OF DISPOSAL PER INDIVIDUAL JUDICIAL OFFICER.</vt:lpstr>
      <vt:lpstr>BAR CHART REPRESENTING TOTAL DISPOSAL PER EACH JUDICIAL OFFICER</vt:lpstr>
      <vt:lpstr>PENDING RULINGS AND JUDGMENTS PER JUDICIAL OFFICER – AS AT 30TH JUNE 2025</vt:lpstr>
      <vt:lpstr>PowerPoint Presentation</vt:lpstr>
      <vt:lpstr>PowerPoint Presentation</vt:lpstr>
      <vt:lpstr>PowerPoint Presentation</vt:lpstr>
      <vt:lpstr>PowerPoint Presentation</vt:lpstr>
      <vt:lpstr>BACKLOG DISTRIBUTION FOR THE 4TH   QUARTER</vt:lpstr>
      <vt:lpstr>BACKLOG DISTRIBUTION</vt:lpstr>
      <vt:lpstr>PowerPoint Presentation</vt:lpstr>
      <vt:lpstr>PowerPoint Presentation</vt:lpstr>
      <vt:lpstr>IMPLEMENTATION OF RESOLUTIONS AND RECOMMENDATIONS FROM THE PREVIOUS MEETING </vt:lpstr>
      <vt:lpstr>IMPLEMENTATION OF RESOLUTIONS … CONT’D </vt:lpstr>
      <vt:lpstr>IMPLEMENTATION OF RESOLUTIONS … CONT’D </vt:lpstr>
      <vt:lpstr>BEST PRACTICES</vt:lpstr>
      <vt:lpstr>BEST PRACTICES … CONT’D</vt:lpstr>
      <vt:lpstr>CHALLENGES</vt:lpstr>
      <vt:lpstr>CHALLENGES … CONT’D</vt:lpstr>
      <vt:lpstr>STRATEGIES FOR PERFORMANCE ENHANCEMENT</vt:lpstr>
      <vt:lpstr>WORK PLAN FOR THE FOURTH QUARTER JULY- SEPTEMBER 2025</vt:lpstr>
      <vt:lpstr> </vt:lpstr>
      <vt:lpstr>Kasese Bar Bench meeting held at Kasese High Court </vt:lpstr>
      <vt:lpstr>Sensitization Team at Mubuku  Prison led by the Resident Judge Kasese High Court</vt:lpstr>
      <vt:lpstr>Sensitization and Interaction with inmates at Mubuku  Prison</vt:lpstr>
      <vt:lpstr>Resident Judge inspecting guard of honor at the opening of the criminal session at Kasese High Court.</vt:lpstr>
      <vt:lpstr>Closure of the session</vt:lpstr>
      <vt:lpstr>RCC Meeting conducted at Kasese High Court</vt:lpstr>
      <vt:lpstr>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rmutebi</dc:creator>
  <cp:lastModifiedBy>USER</cp:lastModifiedBy>
  <cp:revision>918</cp:revision>
  <cp:lastPrinted>2025-08-01T09:58:31Z</cp:lastPrinted>
  <dcterms:created xsi:type="dcterms:W3CDTF">2024-09-19T10:47:00Z</dcterms:created>
  <dcterms:modified xsi:type="dcterms:W3CDTF">2025-08-04T06:41:56Z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2024-09-19T03:00:00Z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2024-09-19T03:00:00Z</vt:filetime>
  </property>
  <property fmtid="{D5CDD505-2E9C-101B-9397-08002B2CF9AE}" pid="5" name="ICV">
    <vt:lpwstr>E01D056E08C54EC9BC127F1343F5B027_12</vt:lpwstr>
  </property>
  <property fmtid="{D5CDD505-2E9C-101B-9397-08002B2CF9AE}" pid="6" name="KSOProductBuildVer">
    <vt:lpwstr>1033-12.2.0.21931</vt:lpwstr>
  </property>
</Properties>
</file>